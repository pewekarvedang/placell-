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examiners and guides. I am Vedang Pewekar, presenting Placell, an enterprise AI-powered platform for institutional placement intelligence and explainable career analytics. This project represents solo development across Enterprise Systems, ITPM, and ASTMA with strict software-only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higher education institutions, campus placement data is severely underutilized. Valuable qualitative feedback from interview experiences disappears when students graduate. Placell transforms this scattered qualitative feedback into an enterprise intelligence system using NLP and explainable analytics.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core academic anchor of my final-year project. I explicitly demonstrate three university subjects: Enterprise Systems through RBAC, audit logging, and normalized schema; ITPM through solo Agile sprint scheduling, WBS, and risk analysis; and ASTMA through applied NLP and explainable machine learning.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chose a clean layered modular monolith pattern over microservices. For a solo student project, microservices introduce excessive deployment overhead. A modular monolith provides enterprise separation of concerns between presentation, API routing, business services, and database persistence.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Enterprise Systems concepts are demonstrated. Permissions are enforced at the API gateway via FastAPI dependency injection. Notice our moderation workflow: students submit experiences, but the placement directorate reviews them in a verification queue. Every critical change is logged in our audit table.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database schema is fully normalized into Third Normal Form. Notice the relationships: Users authenticate into Roles, Students link to Academic Departments and Skills, Companies sponsor Placement Drives, and Placement Experiences link to both structured Interview Rounds and automated NLP results.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ASTMA, we built a deterministic, reproducible NLP pipeline. When a student writes 'The technical interview grilled me on SQL joins and Python OOP', our pipeline extracts 'SQL' and 'Python', infers positive or neutral sentiment, and tags Database and OOP as core topics.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placement readiness model is completely transparent. We do not use black-box neural networks that cannot be explained. We formulate an objective 5-part feature vector. Most importantly, as required by AI ethics, we strictly exclude all demographic attributes.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10 and 12 implement our Explainable Recommendation Engine. In traditional systems, recommendations are black-box suggestions. In Placell, every single recommendation shows WHY it was generated, citing the exact historical percentage of campus drives that tested that skill.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IT Project Management, I structured the project around a 14-week Agile lifecycle tailored for a single student engineer. Rather than a vague plan, we executed seven 2-week sprints, achieving 100% of milestones ahead of schedule.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 management is a critical chapter in ITPM. I identified 5 primary technical and operational risks. For instance, risk R-03 was model bias, mitigated by strictly eliminating demographic attributes. Risk R-05 was an empty database during defense, mitigated by our automatic seed script.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ITPM Cost Management, the project was deliberately engineered for zero budget. By selecting FastAPI, SQLite/PostgreSQL, React, and Scikit-learn, the entire application runs locally on standard student laptops with zero cloud subscription expenses.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interface adheres to clean enterprise design principles. We utilized Tailwind CSS with Plus Jakarta Sans typography. The login page includes one-click demo persona buttons so examiners can immediately experience the interface from all 4 role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Assurance is fully automated. Our pytest suite verifies authentication, student profiles, analytical aggregations, and NLP extraction. Additionally, our database seed script pre-populates over 100 students and 114 verified experiences so examiners can inspect live data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an academic defense, acknowledging boundaries demonstrates engineering maturity. While Placell currently relies on an extensible skill dictionary and English text, our modular architecture makes it easy to integrate PDF resume parsing and AI mock interview simulations in the future.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Placell proves that an ambitious enterprise AI system can be planned, engineered, and tested by a single student following structured ITPM disciplines. The system is live, pre-seeded, and ready for demonstration. Thank you, and I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137160" cy="31089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10058400" cy="3108960"/>
          </a:xfrm>
          <a:prstGeom prst="rect">
            <a:avLst/>
          </a:prstGeom>
          <a:noFill/>
        </p:spPr>
        <p:txBody>
          <a:bodyPr wrap="square">
            <a:spAutoFit/>
          </a:bodyPr>
          <a:lstStyle/>
          <a:p>
            <a:pPr>
              <a:defRPr sz="1300" b="1">
                <a:solidFill>
                  <a:srgbClr val="38BDF8"/>
                </a:solidFill>
              </a:defRPr>
            </a:pPr>
            <a:r>
              <a:t>FINAL-YEAR B.TECH CAPSTONE PROJECT DEFENSE</a:t>
            </a:r>
          </a:p>
          <a:p>
            <a:pPr>
              <a:spcBef>
                <a:spcPts val="800"/>
              </a:spcBef>
              <a:defRPr sz="4400" b="1">
                <a:solidFill>
                  <a:srgbClr val="F8FAFC"/>
                </a:solidFill>
              </a:defRPr>
            </a:pPr>
            <a:r>
              <a:t>Placell</a:t>
            </a:r>
          </a:p>
          <a:p>
            <a:pPr>
              <a:spcBef>
                <a:spcPts val="400"/>
              </a:spcBef>
              <a:defRPr sz="2000">
                <a:solidFill>
                  <a:srgbClr val="818CF8"/>
                </a:solidFill>
              </a:defRPr>
            </a:pPr>
            <a:r>
              <a:t>AI-Powered Student Placement Experience and Career Analytics System</a:t>
            </a:r>
          </a:p>
          <a:p>
            <a:pPr>
              <a:spcBef>
                <a:spcPts val="1400"/>
              </a:spcBef>
              <a:defRPr sz="1300">
                <a:solidFill>
                  <a:srgbClr val="94A3B8"/>
                </a:solidFill>
              </a:defRPr>
            </a:pPr>
            <a:r>
              <a:t>Academic Integration: Enterprise Systems (ES) • IT Project Management (ITPM) • Advanced Technologies (ASTMA)</a:t>
            </a:r>
          </a:p>
        </p:txBody>
      </p:sp>
      <p:sp>
        <p:nvSpPr>
          <p:cNvPr id="5" name="TextBox 4"/>
          <p:cNvSpPr txBox="1"/>
          <p:nvPr/>
        </p:nvSpPr>
        <p:spPr>
          <a:xfrm>
            <a:off x="1097280" y="5120640"/>
            <a:ext cx="10058400" cy="1097280"/>
          </a:xfrm>
          <a:prstGeom prst="rect">
            <a:avLst/>
          </a:prstGeom>
          <a:noFill/>
        </p:spPr>
        <p:txBody>
          <a:bodyPr wrap="none">
            <a:spAutoFit/>
          </a:bodyPr>
          <a:lstStyle/>
          <a:p>
            <a:pPr>
              <a:defRPr sz="1200" b="1">
                <a:solidFill>
                  <a:srgbClr val="F8FAFC"/>
                </a:solidFill>
              </a:defRPr>
            </a:pPr>
            <a:r>
              <a:t>Candidate: Vedang Pewekar (Solo B.Tech CSBS Developer)  |  Branch: Computer Science &amp; Business Systems (CSBS)</a:t>
            </a:r>
          </a:p>
          <a:p>
            <a:pPr>
              <a:spcBef>
                <a:spcPts val="400"/>
              </a:spcBef>
              <a:defRPr sz="1100">
                <a:solidFill>
                  <a:srgbClr val="34D399"/>
                </a:solidFill>
              </a:defRPr>
            </a:pPr>
            <a:r>
              <a:t>Constraint Compliance: 100% Software-Only Platform  •  Zero IoT / Physical Hardware Components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lIns="0" tIns="0" rIns="0" bIns="0">
            <a:spAutoFit/>
          </a:bodyPr>
          <a:lstStyle/>
          <a:p>
            <a:pPr>
              <a:defRPr sz="1100" b="1">
                <a:solidFill>
                  <a:srgbClr val="38BDF8"/>
                </a:solidFill>
              </a:defRPr>
            </a:pPr>
            <a:r>
              <a:t>THE PROBLEM CONTEXT</a:t>
            </a:r>
          </a:p>
          <a:p>
            <a:pPr>
              <a:spcBef>
                <a:spcPts val="400"/>
              </a:spcBef>
              <a:defRPr sz="2400" b="1">
                <a:solidFill>
                  <a:srgbClr val="F8FAFC"/>
                </a:solidFill>
              </a:defRPr>
            </a:pPr>
            <a:r>
              <a:t>Project Vision &amp; Institutional Problem Statement</a:t>
            </a:r>
          </a:p>
        </p:txBody>
      </p:sp>
      <p:sp>
        <p:nvSpPr>
          <p:cNvPr id="4" name="Rounded Rectangle 3"/>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4572000" cy="4114800"/>
          </a:xfrm>
          <a:prstGeom prst="rect">
            <a:avLst/>
          </a:prstGeom>
          <a:noFill/>
        </p:spPr>
        <p:txBody>
          <a:bodyPr wrap="square">
            <a:spAutoFit/>
          </a:bodyPr>
          <a:lstStyle/>
          <a:p>
            <a:pPr>
              <a:defRPr sz="1800" b="1">
                <a:solidFill>
                  <a:srgbClr val="FBBF24"/>
                </a:solidFill>
              </a:defRPr>
            </a:pPr>
            <a:r>
              <a:t>Current State &amp; Fragmented Data</a:t>
            </a:r>
          </a:p>
          <a:p>
            <a:pPr>
              <a:spcBef>
                <a:spcPts val="1200"/>
              </a:spcBef>
            </a:pPr>
            <a:r>
              <a:rPr b="1" sz="1200">
                <a:solidFill>
                  <a:srgbClr val="F8FAFC"/>
                </a:solidFill>
              </a:rPr>
              <a:t>• Disorganized Experience Logging: </a:t>
            </a:r>
            <a:r>
              <a:rPr sz="1200">
                <a:solidFill>
                  <a:srgbClr val="94A3B8"/>
                </a:solidFill>
              </a:rPr>
              <a:t>Student placement and interview experiences remain scattered in informal WhatsApp chats, seniors' memory, or lost upon graduation.</a:t>
            </a:r>
          </a:p>
          <a:p>
            <a:pPr>
              <a:spcBef>
                <a:spcPts val="1200"/>
              </a:spcBef>
            </a:pPr>
            <a:r>
              <a:rPr b="1" sz="1200">
                <a:solidFill>
                  <a:srgbClr val="F8FAFC"/>
                </a:solidFill>
              </a:rPr>
              <a:t>• Information Asymmetry: </a:t>
            </a:r>
            <a:r>
              <a:rPr sz="1200">
                <a:solidFill>
                  <a:srgbClr val="94A3B8"/>
                </a:solidFill>
              </a:rPr>
              <a:t>Junior students prepare blindly without knowing real recruiter expectations, interview stages, or round difficulties.</a:t>
            </a:r>
          </a:p>
          <a:p>
            <a:pPr>
              <a:spcBef>
                <a:spcPts val="1200"/>
              </a:spcBef>
            </a:pPr>
            <a:r>
              <a:rPr b="1" sz="1200">
                <a:solidFill>
                  <a:srgbClr val="F8FAFC"/>
                </a:solidFill>
              </a:rPr>
              <a:t>• Sub-optimal Placement Strategies: </a:t>
            </a:r>
            <a:r>
              <a:rPr sz="1200">
                <a:solidFill>
                  <a:srgbClr val="94A3B8"/>
                </a:solidFill>
              </a:rPr>
              <a:t>Placement cells lack centralized quantitative intelligence to evaluate which rounds cause candidate rejections.</a:t>
            </a:r>
          </a:p>
          <a:p>
            <a:pPr>
              <a:spcBef>
                <a:spcPts val="1200"/>
              </a:spcBef>
            </a:pPr>
            <a:r>
              <a:rPr b="1" sz="1200">
                <a:solidFill>
                  <a:srgbClr val="F8FAFC"/>
                </a:solidFill>
              </a:rPr>
              <a:t>• Curriculum-Industry Gap: </a:t>
            </a:r>
            <a:r>
              <a:rPr sz="1200">
                <a:solidFill>
                  <a:srgbClr val="94A3B8"/>
                </a:solidFill>
              </a:rPr>
              <a:t>Academic departments cannot systematically identify missing competencies demanded across corporate campus drives.</a:t>
            </a:r>
          </a:p>
        </p:txBody>
      </p:sp>
      <p:sp>
        <p:nvSpPr>
          <p:cNvPr id="6" name="Rounded Rectangle 5"/>
          <p:cNvSpPr/>
          <p:nvPr/>
        </p:nvSpPr>
        <p:spPr>
          <a:xfrm>
            <a:off x="6217920" y="1645920"/>
            <a:ext cx="52120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828800"/>
            <a:ext cx="4663440" cy="4114800"/>
          </a:xfrm>
          <a:prstGeom prst="rect">
            <a:avLst/>
          </a:prstGeom>
          <a:noFill/>
        </p:spPr>
        <p:txBody>
          <a:bodyPr wrap="square">
            <a:spAutoFit/>
          </a:bodyPr>
          <a:lstStyle/>
          <a:p>
            <a:pPr>
              <a:defRPr sz="1800" b="1">
                <a:solidFill>
                  <a:srgbClr val="34D399"/>
                </a:solidFill>
              </a:defRPr>
            </a:pPr>
            <a:r>
              <a:t>The Placell Solution</a:t>
            </a:r>
          </a:p>
          <a:p>
            <a:pPr>
              <a:spcBef>
                <a:spcPts val="1200"/>
              </a:spcBef>
            </a:pPr>
            <a:r>
              <a:rPr b="1" sz="1200">
                <a:solidFill>
                  <a:srgbClr val="F8FAFC"/>
                </a:solidFill>
              </a:rPr>
              <a:t>✓ Centralized Knowledge Ingestion: </a:t>
            </a:r>
            <a:r>
              <a:rPr sz="1200">
                <a:solidFill>
                  <a:srgbClr val="94A3B8"/>
                </a:solidFill>
              </a:rPr>
              <a:t>Single enterprise portal to record structured round data and free-form narrative interview feedback.</a:t>
            </a:r>
          </a:p>
          <a:p>
            <a:pPr>
              <a:spcBef>
                <a:spcPts val="1200"/>
              </a:spcBef>
            </a:pPr>
            <a:r>
              <a:rPr b="1" sz="1200">
                <a:solidFill>
                  <a:srgbClr val="F8FAFC"/>
                </a:solidFill>
              </a:rPr>
              <a:t>✓ Natural Language Processing: </a:t>
            </a:r>
            <a:r>
              <a:rPr sz="1200">
                <a:solidFill>
                  <a:srgbClr val="94A3B8"/>
                </a:solidFill>
              </a:rPr>
              <a:t>Automated NLP mining to extract sentiment polarity, technical skills, and frequently tested topics.</a:t>
            </a:r>
          </a:p>
          <a:p>
            <a:pPr>
              <a:spcBef>
                <a:spcPts val="1200"/>
              </a:spcBef>
            </a:pPr>
            <a:r>
              <a:rPr b="1" sz="1200">
                <a:solidFill>
                  <a:srgbClr val="F8FAFC"/>
                </a:solidFill>
              </a:rPr>
              <a:t>✓ Explainable Skill Gap Analysis: </a:t>
            </a:r>
            <a:r>
              <a:rPr sz="1200">
                <a:solidFill>
                  <a:srgbClr val="94A3B8"/>
                </a:solidFill>
              </a:rPr>
              <a:t>Real-time alignment between individual student profiles and live industry benchmarks with statistical justifications.</a:t>
            </a:r>
          </a:p>
          <a:p>
            <a:pPr>
              <a:spcBef>
                <a:spcPts val="1200"/>
              </a:spcBef>
            </a:pPr>
            <a:r>
              <a:rPr b="1" sz="1200">
                <a:solidFill>
                  <a:srgbClr val="F8FAFC"/>
                </a:solidFill>
              </a:rPr>
              <a:t>✓ Multi-Tier Governance: </a:t>
            </a:r>
            <a:r>
              <a:rPr sz="1200">
                <a:solidFill>
                  <a:srgbClr val="94A3B8"/>
                </a:solidFill>
              </a:rPr>
              <a:t>Role-scoped workspaces for Students, Placement Directorate Officers, Faculty Coordinators, and Administrators.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lIns="0" tIns="0" rIns="0" bIns="0">
            <a:spAutoFit/>
          </a:bodyPr>
          <a:lstStyle/>
          <a:p>
            <a:pPr>
              <a:defRPr sz="1100" b="1">
                <a:solidFill>
                  <a:srgbClr val="38BDF8"/>
                </a:solidFill>
              </a:defRPr>
            </a:pPr>
            <a:r>
              <a:t>CORE CURRICULUM SYLLABUS</a:t>
            </a:r>
          </a:p>
          <a:p>
            <a:pPr>
              <a:spcBef>
                <a:spcPts val="400"/>
              </a:spcBef>
              <a:defRPr sz="2400" b="1">
                <a:solidFill>
                  <a:srgbClr val="F8FAFC"/>
                </a:solidFill>
              </a:defRPr>
            </a:pPr>
            <a:r>
              <a:t>Explicit Academic Curriculum Mapping</a:t>
            </a:r>
          </a:p>
        </p:txBody>
      </p:sp>
      <p:sp>
        <p:nvSpPr>
          <p:cNvPr id="4" name="Rounded Rectangle 3"/>
          <p:cNvSpPr/>
          <p:nvPr/>
        </p:nvSpPr>
        <p:spPr>
          <a:xfrm>
            <a:off x="731520" y="1645920"/>
            <a:ext cx="34747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108960" cy="4114800"/>
          </a:xfrm>
          <a:prstGeom prst="rect">
            <a:avLst/>
          </a:prstGeom>
          <a:noFill/>
        </p:spPr>
        <p:txBody>
          <a:bodyPr wrap="square">
            <a:spAutoFit/>
          </a:bodyPr>
          <a:lstStyle/>
          <a:p>
            <a:pPr>
              <a:defRPr sz="1400" b="1">
                <a:solidFill>
                  <a:srgbClr val="38BDF8"/>
                </a:solidFill>
              </a:defRPr>
            </a:pPr>
            <a:r>
              <a:t>[ES]</a:t>
            </a:r>
          </a:p>
          <a:p>
            <a:pPr>
              <a:spcBef>
                <a:spcPts val="200"/>
              </a:spcBef>
              <a:defRPr sz="1700" b="1">
                <a:solidFill>
                  <a:srgbClr val="F8FAFC"/>
                </a:solidFill>
              </a:defRPr>
            </a:pPr>
            <a:r>
              <a:t>Enterprise Systems</a:t>
            </a:r>
          </a:p>
          <a:p>
            <a:pPr>
              <a:spcBef>
                <a:spcPts val="800"/>
              </a:spcBef>
            </a:pPr>
            <a:r>
              <a:rPr b="1" sz="1100">
                <a:solidFill>
                  <a:srgbClr val="F8FAFC"/>
                </a:solidFill>
              </a:rPr>
              <a:t>• Centralized Relational Architecture:</a:t>
            </a:r>
            <a:r>
              <a:rPr sz="1100">
                <a:solidFill>
                  <a:srgbClr val="94A3B8"/>
                </a:solidFill>
              </a:rPr>
              <a:t> 10+ normalized entities in PostgreSQL/SQLAlchemy.</a:t>
            </a:r>
          </a:p>
          <a:p>
            <a:pPr>
              <a:spcBef>
                <a:spcPts val="800"/>
              </a:spcBef>
            </a:pPr>
            <a:r>
              <a:rPr b="1" sz="1100">
                <a:solidFill>
                  <a:srgbClr val="F8FAFC"/>
                </a:solidFill>
              </a:rPr>
              <a:t>• 4-Tier RBAC:</a:t>
            </a:r>
            <a:r>
              <a:rPr sz="1100">
                <a:solidFill>
                  <a:srgbClr val="94A3B8"/>
                </a:solidFill>
              </a:rPr>
              <a:t> Distinct permissions for Student, Placement Officer, Faculty, and Admin.</a:t>
            </a:r>
          </a:p>
          <a:p>
            <a:pPr>
              <a:spcBef>
                <a:spcPts val="800"/>
              </a:spcBef>
            </a:pPr>
            <a:r>
              <a:rPr b="1" sz="1100">
                <a:solidFill>
                  <a:srgbClr val="F8FAFC"/>
                </a:solidFill>
              </a:rPr>
              <a:t>• Enterprise Moderation Workflow:</a:t>
            </a:r>
            <a:r>
              <a:rPr sz="1100">
                <a:solidFill>
                  <a:srgbClr val="94A3B8"/>
                </a:solidFill>
              </a:rPr>
              <a:t> TPO review queue authorizing student feedback before publication.</a:t>
            </a:r>
          </a:p>
          <a:p>
            <a:pPr>
              <a:spcBef>
                <a:spcPts val="800"/>
              </a:spcBef>
            </a:pPr>
            <a:r>
              <a:rPr b="1" sz="1100">
                <a:solidFill>
                  <a:srgbClr val="F8FAFC"/>
                </a:solidFill>
              </a:rPr>
              <a:t>• Immutable Audit Trail:</a:t>
            </a:r>
            <a:r>
              <a:rPr sz="1100">
                <a:solidFill>
                  <a:srgbClr val="94A3B8"/>
                </a:solidFill>
              </a:rPr>
              <a:t> Timestamped tracking of logins, submissions, and status mutations.</a:t>
            </a:r>
          </a:p>
          <a:p>
            <a:pPr>
              <a:spcBef>
                <a:spcPts val="800"/>
              </a:spcBef>
            </a:pPr>
            <a:r>
              <a:rPr b="1" sz="1100">
                <a:solidFill>
                  <a:srgbClr val="F8FAFC"/>
                </a:solidFill>
              </a:rPr>
              <a:t>• Department Scoping:</a:t>
            </a:r>
            <a:r>
              <a:rPr sz="1100">
                <a:solidFill>
                  <a:srgbClr val="94A3B8"/>
                </a:solidFill>
              </a:rPr>
              <a:t> Faculty dashboards isolated by academic department.</a:t>
            </a:r>
          </a:p>
        </p:txBody>
      </p:sp>
      <p:sp>
        <p:nvSpPr>
          <p:cNvPr id="6" name="Rounded Rectangle 5"/>
          <p:cNvSpPr/>
          <p:nvPr/>
        </p:nvSpPr>
        <p:spPr>
          <a:xfrm>
            <a:off x="4343400" y="1645920"/>
            <a:ext cx="34747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828800"/>
            <a:ext cx="3108960" cy="4114800"/>
          </a:xfrm>
          <a:prstGeom prst="rect">
            <a:avLst/>
          </a:prstGeom>
          <a:noFill/>
        </p:spPr>
        <p:txBody>
          <a:bodyPr wrap="square">
            <a:spAutoFit/>
          </a:bodyPr>
          <a:lstStyle/>
          <a:p>
            <a:pPr>
              <a:defRPr sz="1400" b="1">
                <a:solidFill>
                  <a:srgbClr val="818CF8"/>
                </a:solidFill>
              </a:defRPr>
            </a:pPr>
            <a:r>
              <a:t>[ITPM]</a:t>
            </a:r>
          </a:p>
          <a:p>
            <a:pPr>
              <a:spcBef>
                <a:spcPts val="200"/>
              </a:spcBef>
              <a:defRPr sz="1700" b="1">
                <a:solidFill>
                  <a:srgbClr val="F8FAFC"/>
                </a:solidFill>
              </a:defRPr>
            </a:pPr>
            <a:r>
              <a:t>IT Project Management</a:t>
            </a:r>
          </a:p>
          <a:p>
            <a:pPr>
              <a:spcBef>
                <a:spcPts val="800"/>
              </a:spcBef>
            </a:pPr>
            <a:r>
              <a:rPr b="1" sz="1100">
                <a:solidFill>
                  <a:srgbClr val="F8FAFC"/>
                </a:solidFill>
              </a:rPr>
              <a:t>• Agile/Scrum Lifecycle:</a:t>
            </a:r>
            <a:r>
              <a:rPr sz="1100">
                <a:solidFill>
                  <a:srgbClr val="94A3B8"/>
                </a:solidFill>
              </a:rPr>
              <a:t> 14-week realistic single-engineer delivery schedule (7 sprints).</a:t>
            </a:r>
          </a:p>
          <a:p>
            <a:pPr>
              <a:spcBef>
                <a:spcPts val="800"/>
              </a:spcBef>
            </a:pPr>
            <a:r>
              <a:rPr b="1" sz="1100">
                <a:solidFill>
                  <a:srgbClr val="F8FAFC"/>
                </a:solidFill>
              </a:rPr>
              <a:t>• Project Charter &amp; WBS:</a:t>
            </a:r>
            <a:r>
              <a:rPr sz="1100">
                <a:solidFill>
                  <a:srgbClr val="94A3B8"/>
                </a:solidFill>
              </a:rPr>
              <a:t> Strict boundary definitions preventing scope creep.</a:t>
            </a:r>
          </a:p>
          <a:p>
            <a:pPr>
              <a:spcBef>
                <a:spcPts val="800"/>
              </a:spcBef>
            </a:pPr>
            <a:r>
              <a:rPr b="1" sz="1100">
                <a:solidFill>
                  <a:srgbClr val="F8FAFC"/>
                </a:solidFill>
              </a:rPr>
              <a:t>• Risk Management:</a:t>
            </a:r>
            <a:r>
              <a:rPr sz="1100">
                <a:solidFill>
                  <a:srgbClr val="94A3B8"/>
                </a:solidFill>
              </a:rPr>
              <a:t> Formal 5-factor risk register with mitigation strategies.</a:t>
            </a:r>
          </a:p>
          <a:p>
            <a:pPr>
              <a:spcBef>
                <a:spcPts val="800"/>
              </a:spcBef>
            </a:pPr>
            <a:r>
              <a:rPr b="1" sz="1100">
                <a:solidFill>
                  <a:srgbClr val="F8FAFC"/>
                </a:solidFill>
              </a:rPr>
              <a:t>• Cost Estimation:</a:t>
            </a:r>
            <a:r>
              <a:rPr sz="1100">
                <a:solidFill>
                  <a:srgbClr val="94A3B8"/>
                </a:solidFill>
              </a:rPr>
              <a:t> Open-source local execution yielding $0 direct expenditure.</a:t>
            </a:r>
          </a:p>
          <a:p>
            <a:pPr>
              <a:spcBef>
                <a:spcPts val="800"/>
              </a:spcBef>
            </a:pPr>
            <a:r>
              <a:rPr b="1" sz="1100">
                <a:solidFill>
                  <a:srgbClr val="F8FAFC"/>
                </a:solidFill>
              </a:rPr>
              <a:t>• Quality Assurance:</a:t>
            </a:r>
            <a:r>
              <a:rPr sz="1100">
                <a:solidFill>
                  <a:srgbClr val="94A3B8"/>
                </a:solidFill>
              </a:rPr>
              <a:t> Pytest integration testing &amp; automated build verification.</a:t>
            </a:r>
          </a:p>
        </p:txBody>
      </p:sp>
      <p:sp>
        <p:nvSpPr>
          <p:cNvPr id="8" name="Rounded Rectangle 7"/>
          <p:cNvSpPr/>
          <p:nvPr/>
        </p:nvSpPr>
        <p:spPr>
          <a:xfrm>
            <a:off x="7955280" y="1645920"/>
            <a:ext cx="34747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828800"/>
            <a:ext cx="3108960" cy="4114800"/>
          </a:xfrm>
          <a:prstGeom prst="rect">
            <a:avLst/>
          </a:prstGeom>
          <a:noFill/>
        </p:spPr>
        <p:txBody>
          <a:bodyPr wrap="square">
            <a:spAutoFit/>
          </a:bodyPr>
          <a:lstStyle/>
          <a:p>
            <a:pPr>
              <a:defRPr sz="1400" b="1">
                <a:solidFill>
                  <a:srgbClr val="34D399"/>
                </a:solidFill>
              </a:defRPr>
            </a:pPr>
            <a:r>
              <a:t>[ASTMA]</a:t>
            </a:r>
          </a:p>
          <a:p>
            <a:pPr>
              <a:spcBef>
                <a:spcPts val="200"/>
              </a:spcBef>
              <a:defRPr sz="1700" b="1">
                <a:solidFill>
                  <a:srgbClr val="F8FAFC"/>
                </a:solidFill>
              </a:defRPr>
            </a:pPr>
            <a:r>
              <a:t>Advanced Technologies</a:t>
            </a:r>
          </a:p>
          <a:p>
            <a:pPr>
              <a:spcBef>
                <a:spcPts val="800"/>
              </a:spcBef>
            </a:pPr>
            <a:r>
              <a:rPr b="1" sz="1100">
                <a:solidFill>
                  <a:srgbClr val="F8FAFC"/>
                </a:solidFill>
              </a:rPr>
              <a:t>• NLP Sentiment Polarity:</a:t>
            </a:r>
            <a:r>
              <a:rPr sz="1100">
                <a:solidFill>
                  <a:srgbClr val="94A3B8"/>
                </a:solidFill>
              </a:rPr>
              <a:t> Calibrated lexicon and score distribution (Positive / Neutral / Negative).</a:t>
            </a:r>
          </a:p>
          <a:p>
            <a:pPr>
              <a:spcBef>
                <a:spcPts val="800"/>
              </a:spcBef>
            </a:pPr>
            <a:r>
              <a:rPr b="1" sz="1100">
                <a:solidFill>
                  <a:srgbClr val="F8FAFC"/>
                </a:solidFill>
              </a:rPr>
              <a:t>• Skill Entity Matcher:</a:t>
            </a:r>
            <a:r>
              <a:rPr sz="1100">
                <a:solidFill>
                  <a:srgbClr val="94A3B8"/>
                </a:solidFill>
              </a:rPr>
              <a:t> 150+ technology taxonomy with boundary regex tokenization.</a:t>
            </a:r>
          </a:p>
          <a:p>
            <a:pPr>
              <a:spcBef>
                <a:spcPts val="800"/>
              </a:spcBef>
            </a:pPr>
            <a:r>
              <a:rPr b="1" sz="1100">
                <a:solidFill>
                  <a:srgbClr val="F8FAFC"/>
                </a:solidFill>
              </a:rPr>
              <a:t>• Topic &amp; Difficulty Extractor:</a:t>
            </a:r>
            <a:r>
              <a:rPr sz="1100">
                <a:solidFill>
                  <a:srgbClr val="94A3B8"/>
                </a:solidFill>
              </a:rPr>
              <a:t> Detection of DSA, System Design, and question difficulty.</a:t>
            </a:r>
          </a:p>
          <a:p>
            <a:pPr>
              <a:spcBef>
                <a:spcPts val="800"/>
              </a:spcBef>
            </a:pPr>
            <a:r>
              <a:rPr b="1" sz="1100">
                <a:solidFill>
                  <a:srgbClr val="F8FAFC"/>
                </a:solidFill>
              </a:rPr>
              <a:t>• Supervised Tabular Readiness:</a:t>
            </a:r>
            <a:r>
              <a:rPr sz="1100">
                <a:solidFill>
                  <a:srgbClr val="94A3B8"/>
                </a:solidFill>
              </a:rPr>
              <a:t> Objective academic &amp; technical readiness estimation.</a:t>
            </a:r>
          </a:p>
          <a:p>
            <a:pPr>
              <a:spcBef>
                <a:spcPts val="800"/>
              </a:spcBef>
            </a:pPr>
            <a:r>
              <a:rPr b="1" sz="1100">
                <a:solidFill>
                  <a:srgbClr val="F8FAFC"/>
                </a:solidFill>
              </a:rPr>
              <a:t>• Explainable Recommendations:</a:t>
            </a:r>
            <a:r>
              <a:rPr sz="1100">
                <a:solidFill>
                  <a:srgbClr val="94A3B8"/>
                </a:solidFill>
              </a:rPr>
              <a:t> Frequency-backed rationale without black-box opacity.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lIns="0" tIns="0" rIns="0" bIns="0">
            <a:spAutoFit/>
          </a:bodyPr>
          <a:lstStyle/>
          <a:p>
            <a:pPr>
              <a:defRPr sz="1100" b="1">
                <a:solidFill>
                  <a:srgbClr val="38BDF8"/>
                </a:solidFill>
              </a:defRPr>
            </a:pPr>
            <a:r>
              <a:t>SOFTWARE ARCHITECTURE</a:t>
            </a:r>
          </a:p>
          <a:p>
            <a:pPr>
              <a:spcBef>
                <a:spcPts val="400"/>
              </a:spcBef>
              <a:defRPr sz="2400" b="1">
                <a:solidFill>
                  <a:srgbClr val="F8FAFC"/>
                </a:solidFill>
              </a:defRPr>
            </a:pPr>
            <a:r>
              <a:t>Layered System Architecture</a:t>
            </a:r>
          </a:p>
        </p:txBody>
      </p:sp>
      <p:sp>
        <p:nvSpPr>
          <p:cNvPr id="4" name="Rounded Rectangle 3"/>
          <p:cNvSpPr/>
          <p:nvPr/>
        </p:nvSpPr>
        <p:spPr>
          <a:xfrm>
            <a:off x="731520" y="1645920"/>
            <a:ext cx="10698480" cy="1051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55648"/>
            <a:ext cx="10332720" cy="868680"/>
          </a:xfrm>
          <a:prstGeom prst="rect">
            <a:avLst/>
          </a:prstGeom>
          <a:noFill/>
        </p:spPr>
        <p:txBody>
          <a:bodyPr wrap="square">
            <a:spAutoFit/>
          </a:bodyPr>
          <a:lstStyle/>
          <a:p>
            <a:pPr>
              <a:defRPr sz="1300" b="1">
                <a:solidFill>
                  <a:srgbClr val="38BDF8"/>
                </a:solidFill>
              </a:defRPr>
            </a:pPr>
            <a:r>
              <a:t>1. Presentation Layer (Vite + React 19 + TypeScript + Tailwind)</a:t>
            </a:r>
          </a:p>
          <a:p>
            <a:pPr>
              <a:spcBef>
                <a:spcPts val="300"/>
              </a:spcBef>
              <a:defRPr sz="1100">
                <a:solidFill>
                  <a:srgbClr val="94A3B8"/>
                </a:solidFill>
              </a:defRPr>
            </a:pPr>
            <a:r>
              <a:t>   • Responsive Single Page Application (SPA) designed for desktop and mobile browsers.   • Role-based dynamic layouts (Navbar, Sidebar) adapting navigation based on user claims.   • Interactive charts rendered via Recharts (Bar, Line, Pie, Radar charts) and Lucide icons.</a:t>
            </a:r>
          </a:p>
        </p:txBody>
      </p:sp>
      <p:sp>
        <p:nvSpPr>
          <p:cNvPr id="6" name="Rounded Rectangle 5"/>
          <p:cNvSpPr/>
          <p:nvPr/>
        </p:nvSpPr>
        <p:spPr>
          <a:xfrm>
            <a:off x="731520" y="2788920"/>
            <a:ext cx="10698480" cy="1051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898648"/>
            <a:ext cx="10332720" cy="868680"/>
          </a:xfrm>
          <a:prstGeom prst="rect">
            <a:avLst/>
          </a:prstGeom>
          <a:noFill/>
        </p:spPr>
        <p:txBody>
          <a:bodyPr wrap="square">
            <a:spAutoFit/>
          </a:bodyPr>
          <a:lstStyle/>
          <a:p>
            <a:pPr>
              <a:defRPr sz="1300" b="1">
                <a:solidFill>
                  <a:srgbClr val="818CF8"/>
                </a:solidFill>
              </a:defRPr>
            </a:pPr>
            <a:r>
              <a:t>2. API &amp; Security Layer (FastAPI + JWT + RBAC Guards)</a:t>
            </a:r>
          </a:p>
          <a:p>
            <a:pPr>
              <a:spcBef>
                <a:spcPts val="300"/>
              </a:spcBef>
              <a:defRPr sz="1100">
                <a:solidFill>
                  <a:srgbClr val="94A3B8"/>
                </a:solidFill>
              </a:defRPr>
            </a:pPr>
            <a:r>
              <a:t>   • OAuth2 password bearer specification with signed HS256 JWT access tokens.   • FastAPI dependency injection verifying roles: RequireRoles([ADMIN, TPO, FACULTY, STUDENT]).   • CORS middleware, input sanitization, and automated interceptor for immutable audit logs.</a:t>
            </a:r>
          </a:p>
        </p:txBody>
      </p:sp>
      <p:sp>
        <p:nvSpPr>
          <p:cNvPr id="8" name="Rounded Rectangle 7"/>
          <p:cNvSpPr/>
          <p:nvPr/>
        </p:nvSpPr>
        <p:spPr>
          <a:xfrm>
            <a:off x="731520" y="3931920"/>
            <a:ext cx="10698480" cy="1051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41648"/>
            <a:ext cx="10332720" cy="868680"/>
          </a:xfrm>
          <a:prstGeom prst="rect">
            <a:avLst/>
          </a:prstGeom>
          <a:noFill/>
        </p:spPr>
        <p:txBody>
          <a:bodyPr wrap="square">
            <a:spAutoFit/>
          </a:bodyPr>
          <a:lstStyle/>
          <a:p>
            <a:pPr>
              <a:defRPr sz="1300" b="1">
                <a:solidFill>
                  <a:srgbClr val="34D399"/>
                </a:solidFill>
              </a:defRPr>
            </a:pPr>
            <a:r>
              <a:t>3. Service &amp; ASTMA Intelligence Engine (Python 3.14)</a:t>
            </a:r>
          </a:p>
          <a:p>
            <a:pPr>
              <a:spcBef>
                <a:spcPts val="300"/>
              </a:spcBef>
              <a:defRPr sz="1100">
                <a:solidFill>
                  <a:srgbClr val="94A3B8"/>
                </a:solidFill>
              </a:defRPr>
            </a:pPr>
            <a:r>
              <a:t>   • Decoupled business logic: StudentService, DriveService, CompanyService, AnalyticsService.   • SentimentAnalyzer: Calibrated text polarity with prior user rating blending.   • SkillExtractor &amp; TopicAnalyzer: Boundary regex tokenizer with 150+ taxonomy.   • PlacementReadinessModel: Multi-factor tabular scoring with non-discriminatory ethical rules.</a:t>
            </a:r>
          </a:p>
        </p:txBody>
      </p:sp>
      <p:sp>
        <p:nvSpPr>
          <p:cNvPr id="10" name="Rounded Rectangle 9"/>
          <p:cNvSpPr/>
          <p:nvPr/>
        </p:nvSpPr>
        <p:spPr>
          <a:xfrm>
            <a:off x="731520" y="5074920"/>
            <a:ext cx="10698480" cy="1051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184648"/>
            <a:ext cx="10332720" cy="868680"/>
          </a:xfrm>
          <a:prstGeom prst="rect">
            <a:avLst/>
          </a:prstGeom>
          <a:noFill/>
        </p:spPr>
        <p:txBody>
          <a:bodyPr wrap="square">
            <a:spAutoFit/>
          </a:bodyPr>
          <a:lstStyle/>
          <a:p>
            <a:pPr>
              <a:defRPr sz="1300" b="1">
                <a:solidFill>
                  <a:srgbClr val="FBBF24"/>
                </a:solidFill>
              </a:defRPr>
            </a:pPr>
            <a:r>
              <a:t>4. Persistence &amp; Data Access (SQLAlchemy 2.0 + PostgreSQL / SQLite)</a:t>
            </a:r>
          </a:p>
          <a:p>
            <a:pPr>
              <a:spcBef>
                <a:spcPts val="300"/>
              </a:spcBef>
              <a:defRPr sz="1100">
                <a:solidFill>
                  <a:srgbClr val="94A3B8"/>
                </a:solidFill>
              </a:defRPr>
            </a:pPr>
            <a:r>
              <a:t>   • Declarative relational models with foreign keys, unique constraints, and cascade delete.   • Fully portable: Operates seamlessly on local SQLite for live demo or PostgreSQL in production.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lIns="0" tIns="0" rIns="0" bIns="0">
            <a:spAutoFit/>
          </a:bodyPr>
          <a:lstStyle/>
          <a:p>
            <a:pPr>
              <a:defRPr sz="1100" b="1">
                <a:solidFill>
                  <a:srgbClr val="38BDF8"/>
                </a:solidFill>
              </a:defRPr>
            </a:pPr>
            <a:r>
              <a:t>ES CORE MODULE</a:t>
            </a:r>
          </a:p>
          <a:p>
            <a:pPr>
              <a:spcBef>
                <a:spcPts val="400"/>
              </a:spcBef>
              <a:defRPr sz="2400" b="1">
                <a:solidFill>
                  <a:srgbClr val="F8FAFC"/>
                </a:solidFill>
              </a:defRPr>
            </a:pPr>
            <a:r>
              <a:t>Enterprise Systems (ES) Implementation</a:t>
            </a:r>
          </a:p>
        </p:txBody>
      </p:sp>
      <p:sp>
        <p:nvSpPr>
          <p:cNvPr id="4" name="Rounded Rectangle 3"/>
          <p:cNvSpPr/>
          <p:nvPr/>
        </p:nvSpPr>
        <p:spPr>
          <a:xfrm>
            <a:off x="731520" y="1645920"/>
            <a:ext cx="53035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4754880" cy="4114800"/>
          </a:xfrm>
          <a:prstGeom prst="rect">
            <a:avLst/>
          </a:prstGeom>
          <a:noFill/>
        </p:spPr>
        <p:txBody>
          <a:bodyPr wrap="square">
            <a:spAutoFit/>
          </a:bodyPr>
          <a:lstStyle/>
          <a:p>
            <a:pPr>
              <a:defRPr sz="1800" b="1">
                <a:solidFill>
                  <a:srgbClr val="38BDF8"/>
                </a:solidFill>
              </a:defRPr>
            </a:pPr>
            <a:r>
              <a:t>Role-Based Access Control (RBAC)</a:t>
            </a:r>
          </a:p>
          <a:p>
            <a:pPr>
              <a:spcBef>
                <a:spcPts val="1000"/>
              </a:spcBef>
            </a:pPr>
            <a:r>
              <a:rPr b="1" sz="1200">
                <a:solidFill>
                  <a:srgbClr val="F8FAFC"/>
                </a:solidFill>
              </a:rPr>
              <a:t>• Student: </a:t>
            </a:r>
            <a:r>
              <a:rPr sz="1100">
                <a:solidFill>
                  <a:srgbClr val="94A3B8"/>
                </a:solidFill>
              </a:rPr>
              <a:t>Manages own portfolio, views personal readiness, runs skill gap analyzer, submits reviews.</a:t>
            </a:r>
          </a:p>
          <a:p>
            <a:pPr>
              <a:spcBef>
                <a:spcPts val="1000"/>
              </a:spcBef>
            </a:pPr>
            <a:r>
              <a:rPr b="1" sz="1200">
                <a:solidFill>
                  <a:srgbClr val="F8FAFC"/>
                </a:solidFill>
              </a:rPr>
              <a:t>• Placement Officer (TPO): </a:t>
            </a:r>
            <a:r>
              <a:rPr sz="1100">
                <a:solidFill>
                  <a:srgbClr val="94A3B8"/>
                </a:solidFill>
              </a:rPr>
              <a:t>Schedules placement drives, moderates student reviews, reviews institutional conversion metrics.</a:t>
            </a:r>
          </a:p>
          <a:p>
            <a:pPr>
              <a:spcBef>
                <a:spcPts val="1000"/>
              </a:spcBef>
            </a:pPr>
            <a:r>
              <a:rPr b="1" sz="1200">
                <a:solidFill>
                  <a:srgbClr val="F8FAFC"/>
                </a:solidFill>
              </a:rPr>
              <a:t>• Faculty Coordinator: </a:t>
            </a:r>
            <a:r>
              <a:rPr sz="1100">
                <a:solidFill>
                  <a:srgbClr val="94A3B8"/>
                </a:solidFill>
              </a:rPr>
              <a:t>Department-scoped access; analyzes departmental skill gaps to tailor training.</a:t>
            </a:r>
          </a:p>
          <a:p>
            <a:pPr>
              <a:spcBef>
                <a:spcPts val="1000"/>
              </a:spcBef>
            </a:pPr>
            <a:r>
              <a:rPr b="1" sz="1200">
                <a:solidFill>
                  <a:srgbClr val="F8FAFC"/>
                </a:solidFill>
              </a:rPr>
              <a:t>• System Admin: </a:t>
            </a:r>
            <a:r>
              <a:rPr sz="1100">
                <a:solidFill>
                  <a:srgbClr val="94A3B8"/>
                </a:solidFill>
              </a:rPr>
              <a:t>Full access; manages accounts, updates master skills dictionary, inspects audit logs.</a:t>
            </a:r>
          </a:p>
        </p:txBody>
      </p:sp>
      <p:sp>
        <p:nvSpPr>
          <p:cNvPr id="6" name="Rounded Rectangle 5"/>
          <p:cNvSpPr/>
          <p:nvPr/>
        </p:nvSpPr>
        <p:spPr>
          <a:xfrm>
            <a:off x="6172200" y="1645920"/>
            <a:ext cx="53035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754880" cy="4114800"/>
          </a:xfrm>
          <a:prstGeom prst="rect">
            <a:avLst/>
          </a:prstGeom>
          <a:noFill/>
        </p:spPr>
        <p:txBody>
          <a:bodyPr wrap="square">
            <a:spAutoFit/>
          </a:bodyPr>
          <a:lstStyle/>
          <a:p>
            <a:pPr>
              <a:defRPr sz="1800" b="1">
                <a:solidFill>
                  <a:srgbClr val="34D399"/>
                </a:solidFill>
              </a:defRPr>
            </a:pPr>
            <a:r>
              <a:t>Enterprise Workflow &amp; Governance</a:t>
            </a:r>
          </a:p>
          <a:p>
            <a:pPr>
              <a:spcBef>
                <a:spcPts val="1000"/>
              </a:spcBef>
            </a:pPr>
            <a:r>
              <a:rPr b="1" sz="1200">
                <a:solidFill>
                  <a:srgbClr val="F8FAFC"/>
                </a:solidFill>
              </a:rPr>
              <a:t>• Dual-Modal Submission: </a:t>
            </a:r>
            <a:r>
              <a:rPr sz="1100">
                <a:solidFill>
                  <a:srgbClr val="94A3B8"/>
                </a:solidFill>
              </a:rPr>
              <a:t>Enforces both structured round parameters and free-text narrative for auditability.</a:t>
            </a:r>
          </a:p>
          <a:p>
            <a:pPr>
              <a:spcBef>
                <a:spcPts val="1000"/>
              </a:spcBef>
            </a:pPr>
            <a:r>
              <a:rPr b="1" sz="1200">
                <a:solidFill>
                  <a:srgbClr val="F8FAFC"/>
                </a:solidFill>
              </a:rPr>
              <a:t>• Moderation Queue: </a:t>
            </a:r>
            <a:r>
              <a:rPr sz="1100">
                <a:solidFill>
                  <a:srgbClr val="94A3B8"/>
                </a:solidFill>
              </a:rPr>
              <a:t>TPO can approve or reject reviews with recorded justification before publication.</a:t>
            </a:r>
          </a:p>
          <a:p>
            <a:pPr>
              <a:spcBef>
                <a:spcPts val="1000"/>
              </a:spcBef>
            </a:pPr>
            <a:r>
              <a:rPr b="1" sz="1200">
                <a:solidFill>
                  <a:srgbClr val="F8FAFC"/>
                </a:solidFill>
              </a:rPr>
              <a:t>• Immutable Audit Trail: </a:t>
            </a:r>
            <a:r>
              <a:rPr sz="1100">
                <a:solidFill>
                  <a:srgbClr val="94A3B8"/>
                </a:solidFill>
              </a:rPr>
              <a:t>Captures Actor, Timestamp, IP Address, Action, and Entity ID on critical events.</a:t>
            </a:r>
          </a:p>
          <a:p>
            <a:pPr>
              <a:spcBef>
                <a:spcPts val="1000"/>
              </a:spcBef>
            </a:pPr>
            <a:r>
              <a:rPr b="1" sz="1200">
                <a:solidFill>
                  <a:srgbClr val="F8FAFC"/>
                </a:solidFill>
              </a:rPr>
              <a:t>• Data Privacy Safeguards: </a:t>
            </a:r>
            <a:r>
              <a:rPr sz="1100">
                <a:solidFill>
                  <a:srgbClr val="94A3B8"/>
                </a:solidFill>
              </a:rPr>
              <a:t>Strict anonymization of student roll numbers in public analytics aggregations.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lIns="0" tIns="0" rIns="0" bIns="0">
            <a:spAutoFit/>
          </a:bodyPr>
          <a:lstStyle/>
          <a:p>
            <a:pPr>
              <a:defRPr sz="1100" b="1">
                <a:solidFill>
                  <a:srgbClr val="38BDF8"/>
                </a:solidFill>
              </a:defRPr>
            </a:pPr>
            <a:r>
              <a:t>ENTERPRISE DATA ARCHITECTURE</a:t>
            </a:r>
          </a:p>
          <a:p>
            <a:pPr>
              <a:spcBef>
                <a:spcPts val="400"/>
              </a:spcBef>
              <a:defRPr sz="2400" b="1">
                <a:solidFill>
                  <a:srgbClr val="F8FAFC"/>
                </a:solidFill>
              </a:defRPr>
            </a:pPr>
            <a:r>
              <a:t>Normalized Database Design &amp; Entities</a:t>
            </a:r>
          </a:p>
        </p:txBody>
      </p:sp>
      <p:graphicFrame>
        <p:nvGraphicFramePr>
          <p:cNvPr id="4" name="Table 3"/>
          <p:cNvGraphicFramePr>
            <a:graphicFrameLocks noGrp="1"/>
          </p:cNvGraphicFramePr>
          <p:nvPr/>
        </p:nvGraphicFramePr>
        <p:xfrm>
          <a:off x="731520" y="1645920"/>
          <a:ext cx="10698480" cy="4480560"/>
        </p:xfrm>
        <a:graphic>
          <a:graphicData uri="http://schemas.openxmlformats.org/drawingml/2006/table">
            <a:tbl>
              <a:tblPr firstRow="1" bandRow="1">
                <a:tableStyleId>{5C22544A-7EE6-4342-B048-85BDC9FD1C3A}</a:tableStyleId>
              </a:tblPr>
              <a:tblGrid>
                <a:gridCol w="2011680"/>
                <a:gridCol w="2926080"/>
                <a:gridCol w="2286000"/>
                <a:gridCol w="3474720"/>
              </a:tblGrid>
              <a:tr h="746760">
                <a:tc>
                  <a:txBody>
                    <a:bodyPr/>
                    <a:lstStyle/>
                    <a:p>
                      <a:pPr>
                        <a:defRPr b="1" sz="1200">
                          <a:solidFill>
                            <a:srgbClr val="38BDF8"/>
                          </a:solidFill>
                        </a:defRPr>
                      </a:pPr>
                      <a:r>
                        <a:t>Entity Name</a:t>
                      </a:r>
                    </a:p>
                  </a:txBody>
                  <a:tcPr>
                    <a:solidFill>
                      <a:srgbClr val="1E293B"/>
                    </a:solidFill>
                  </a:tcPr>
                </a:tc>
                <a:tc>
                  <a:txBody>
                    <a:bodyPr/>
                    <a:lstStyle/>
                    <a:p>
                      <a:pPr>
                        <a:defRPr b="1" sz="1200">
                          <a:solidFill>
                            <a:srgbClr val="38BDF8"/>
                          </a:solidFill>
                        </a:defRPr>
                      </a:pPr>
                      <a:r>
                        <a:t>Key Attributes</a:t>
                      </a:r>
                    </a:p>
                  </a:txBody>
                  <a:tcPr>
                    <a:solidFill>
                      <a:srgbClr val="1E293B"/>
                    </a:solidFill>
                  </a:tcPr>
                </a:tc>
                <a:tc>
                  <a:txBody>
                    <a:bodyPr/>
                    <a:lstStyle/>
                    <a:p>
                      <a:pPr>
                        <a:defRPr b="1" sz="1200">
                          <a:solidFill>
                            <a:srgbClr val="38BDF8"/>
                          </a:solidFill>
                        </a:defRPr>
                      </a:pPr>
                      <a:r>
                        <a:t>Relational Constraints</a:t>
                      </a:r>
                    </a:p>
                  </a:txBody>
                  <a:tcPr>
                    <a:solidFill>
                      <a:srgbClr val="1E293B"/>
                    </a:solidFill>
                  </a:tcPr>
                </a:tc>
                <a:tc>
                  <a:txBody>
                    <a:bodyPr/>
                    <a:lstStyle/>
                    <a:p>
                      <a:pPr>
                        <a:defRPr b="1" sz="1200">
                          <a:solidFill>
                            <a:srgbClr val="38BDF8"/>
                          </a:solidFill>
                        </a:defRPr>
                      </a:pPr>
                      <a:r>
                        <a:t>Enterprise Purpose</a:t>
                      </a:r>
                    </a:p>
                  </a:txBody>
                  <a:tcPr>
                    <a:solidFill>
                      <a:srgbClr val="1E293B"/>
                    </a:solidFill>
                  </a:tcPr>
                </a:tc>
              </a:tr>
              <a:tr h="746760">
                <a:tc>
                  <a:txBody>
                    <a:bodyPr/>
                    <a:lstStyle/>
                    <a:p>
                      <a:pPr>
                        <a:defRPr sz="1100">
                          <a:solidFill>
                            <a:srgbClr val="F8FAFC"/>
                          </a:solidFill>
                        </a:defRPr>
                      </a:pPr>
                      <a:r>
                        <a:t>users &amp; departments</a:t>
                      </a:r>
                    </a:p>
                  </a:txBody>
                  <a:tcPr>
                    <a:solidFill>
                      <a:srgbClr val="0F172A"/>
                    </a:solidFill>
                  </a:tcPr>
                </a:tc>
                <a:tc>
                  <a:txBody>
                    <a:bodyPr/>
                    <a:lstStyle/>
                    <a:p>
                      <a:pPr>
                        <a:defRPr sz="1100">
                          <a:solidFill>
                            <a:srgbClr val="94A3B8"/>
                          </a:solidFill>
                        </a:defRPr>
                      </a:pPr>
                      <a:r>
                        <a:t>id (PK), email, hashed_pwd, role, department_id</a:t>
                      </a:r>
                    </a:p>
                  </a:txBody>
                  <a:tcPr>
                    <a:solidFill>
                      <a:srgbClr val="0F172A"/>
                    </a:solidFill>
                  </a:tcPr>
                </a:tc>
                <a:tc>
                  <a:txBody>
                    <a:bodyPr/>
                    <a:lstStyle/>
                    <a:p>
                      <a:pPr>
                        <a:defRPr sz="1100">
                          <a:solidFill>
                            <a:srgbClr val="94A3B8"/>
                          </a:solidFill>
                        </a:defRPr>
                      </a:pPr>
                      <a:r>
                        <a:t>FK to departments, Unique email, Role Enum</a:t>
                      </a:r>
                    </a:p>
                  </a:txBody>
                  <a:tcPr>
                    <a:solidFill>
                      <a:srgbClr val="0F172A"/>
                    </a:solidFill>
                  </a:tcPr>
                </a:tc>
                <a:tc>
                  <a:txBody>
                    <a:bodyPr/>
                    <a:lstStyle/>
                    <a:p>
                      <a:pPr>
                        <a:defRPr sz="1100">
                          <a:solidFill>
                            <a:srgbClr val="94A3B8"/>
                          </a:solidFill>
                        </a:defRPr>
                      </a:pPr>
                      <a:r>
                        <a:t>Authentication, RBAC enforcement, institutional scoping.</a:t>
                      </a:r>
                    </a:p>
                  </a:txBody>
                  <a:tcPr>
                    <a:solidFill>
                      <a:srgbClr val="0F172A"/>
                    </a:solidFill>
                  </a:tcPr>
                </a:tc>
              </a:tr>
              <a:tr h="746760">
                <a:tc>
                  <a:txBody>
                    <a:bodyPr/>
                    <a:lstStyle/>
                    <a:p>
                      <a:pPr>
                        <a:defRPr sz="1100">
                          <a:solidFill>
                            <a:srgbClr val="F8FAFC"/>
                          </a:solidFill>
                        </a:defRPr>
                      </a:pPr>
                      <a:r>
                        <a:t>students &amp; student_skills</a:t>
                      </a:r>
                    </a:p>
                  </a:txBody>
                  <a:tcPr>
                    <a:solidFill>
                      <a:srgbClr val="0F172A"/>
                    </a:solidFill>
                  </a:tcPr>
                </a:tc>
                <a:tc>
                  <a:txBody>
                    <a:bodyPr/>
                    <a:lstStyle/>
                    <a:p>
                      <a:pPr>
                        <a:defRPr sz="1100">
                          <a:solidFill>
                            <a:srgbClr val="94A3B8"/>
                          </a:solidFill>
                        </a:defRPr>
                      </a:pPr>
                      <a:r>
                        <a:t>id (PK), user_id, cgpa, roll_number, projects_count</a:t>
                      </a:r>
                    </a:p>
                  </a:txBody>
                  <a:tcPr>
                    <a:solidFill>
                      <a:srgbClr val="0F172A"/>
                    </a:solidFill>
                  </a:tcPr>
                </a:tc>
                <a:tc>
                  <a:txBody>
                    <a:bodyPr/>
                    <a:lstStyle/>
                    <a:p>
                      <a:pPr>
                        <a:defRPr sz="1100">
                          <a:solidFill>
                            <a:srgbClr val="94A3B8"/>
                          </a:solidFill>
                        </a:defRPr>
                      </a:pPr>
                      <a:r>
                        <a:t>1:1 with users, 1:N with skills, Cascade Delete</a:t>
                      </a:r>
                    </a:p>
                  </a:txBody>
                  <a:tcPr>
                    <a:solidFill>
                      <a:srgbClr val="0F172A"/>
                    </a:solidFill>
                  </a:tcPr>
                </a:tc>
                <a:tc>
                  <a:txBody>
                    <a:bodyPr/>
                    <a:lstStyle/>
                    <a:p>
                      <a:pPr>
                        <a:defRPr sz="1100">
                          <a:solidFill>
                            <a:srgbClr val="94A3B8"/>
                          </a:solidFill>
                        </a:defRPr>
                      </a:pPr>
                      <a:r>
                        <a:t>Academic portfolio, proficiency ratings (Beginner/Adv).</a:t>
                      </a:r>
                    </a:p>
                  </a:txBody>
                  <a:tcPr>
                    <a:solidFill>
                      <a:srgbClr val="0F172A"/>
                    </a:solidFill>
                  </a:tcPr>
                </a:tc>
              </a:tr>
              <a:tr h="746760">
                <a:tc>
                  <a:txBody>
                    <a:bodyPr/>
                    <a:lstStyle/>
                    <a:p>
                      <a:pPr>
                        <a:defRPr sz="1100">
                          <a:solidFill>
                            <a:srgbClr val="F8FAFC"/>
                          </a:solidFill>
                        </a:defRPr>
                      </a:pPr>
                      <a:r>
                        <a:t>companies &amp; job_roles</a:t>
                      </a:r>
                    </a:p>
                  </a:txBody>
                  <a:tcPr>
                    <a:solidFill>
                      <a:srgbClr val="0F172A"/>
                    </a:solidFill>
                  </a:tcPr>
                </a:tc>
                <a:tc>
                  <a:txBody>
                    <a:bodyPr/>
                    <a:lstStyle/>
                    <a:p>
                      <a:pPr>
                        <a:defRPr sz="1100">
                          <a:solidFill>
                            <a:srgbClr val="94A3B8"/>
                          </a:solidFill>
                        </a:defRPr>
                      </a:pPr>
                      <a:r>
                        <a:t>id (PK), name, ctc_min/max, industry, min_cgpa</a:t>
                      </a:r>
                    </a:p>
                  </a:txBody>
                  <a:tcPr>
                    <a:solidFill>
                      <a:srgbClr val="0F172A"/>
                    </a:solidFill>
                  </a:tcPr>
                </a:tc>
                <a:tc>
                  <a:txBody>
                    <a:bodyPr/>
                    <a:lstStyle/>
                    <a:p>
                      <a:pPr>
                        <a:defRPr sz="1100">
                          <a:solidFill>
                            <a:srgbClr val="94A3B8"/>
                          </a:solidFill>
                        </a:defRPr>
                      </a:pPr>
                      <a:r>
                        <a:t>1:N company to roles, M:N roles to required skills</a:t>
                      </a:r>
                    </a:p>
                  </a:txBody>
                  <a:tcPr>
                    <a:solidFill>
                      <a:srgbClr val="0F172A"/>
                    </a:solidFill>
                  </a:tcPr>
                </a:tc>
                <a:tc>
                  <a:txBody>
                    <a:bodyPr/>
                    <a:lstStyle/>
                    <a:p>
                      <a:pPr>
                        <a:defRPr sz="1100">
                          <a:solidFill>
                            <a:srgbClr val="94A3B8"/>
                          </a:solidFill>
                        </a:defRPr>
                      </a:pPr>
                      <a:r>
                        <a:t>Recruiter catalog, compensation brackets, role benchmarks.</a:t>
                      </a:r>
                    </a:p>
                  </a:txBody>
                  <a:tcPr>
                    <a:solidFill>
                      <a:srgbClr val="0F172A"/>
                    </a:solidFill>
                  </a:tcPr>
                </a:tc>
              </a:tr>
              <a:tr h="746760">
                <a:tc>
                  <a:txBody>
                    <a:bodyPr/>
                    <a:lstStyle/>
                    <a:p>
                      <a:pPr>
                        <a:defRPr sz="1100">
                          <a:solidFill>
                            <a:srgbClr val="F8FAFC"/>
                          </a:solidFill>
                        </a:defRPr>
                      </a:pPr>
                      <a:r>
                        <a:t>placement_drives &amp; applications</a:t>
                      </a:r>
                    </a:p>
                  </a:txBody>
                  <a:tcPr>
                    <a:solidFill>
                      <a:srgbClr val="0F172A"/>
                    </a:solidFill>
                  </a:tcPr>
                </a:tc>
                <a:tc>
                  <a:txBody>
                    <a:bodyPr/>
                    <a:lstStyle/>
                    <a:p>
                      <a:pPr>
                        <a:defRPr sz="1100">
                          <a:solidFill>
                            <a:srgbClr val="94A3B8"/>
                          </a:solidFill>
                        </a:defRPr>
                      </a:pPr>
                      <a:r>
                        <a:t>id (PK), company_id, drive_date, status, eligibility</a:t>
                      </a:r>
                    </a:p>
                  </a:txBody>
                  <a:tcPr>
                    <a:solidFill>
                      <a:srgbClr val="0F172A"/>
                    </a:solidFill>
                  </a:tcPr>
                </a:tc>
                <a:tc>
                  <a:txBody>
                    <a:bodyPr/>
                    <a:lstStyle/>
                    <a:p>
                      <a:pPr>
                        <a:defRPr sz="1100">
                          <a:solidFill>
                            <a:srgbClr val="94A3B8"/>
                          </a:solidFill>
                        </a:defRPr>
                      </a:pPr>
                      <a:r>
                        <a:t>FK to company, job_role; 1:N applications</a:t>
                      </a:r>
                    </a:p>
                  </a:txBody>
                  <a:tcPr>
                    <a:solidFill>
                      <a:srgbClr val="0F172A"/>
                    </a:solidFill>
                  </a:tcPr>
                </a:tc>
                <a:tc>
                  <a:txBody>
                    <a:bodyPr/>
                    <a:lstStyle/>
                    <a:p>
                      <a:pPr>
                        <a:defRPr sz="1100">
                          <a:solidFill>
                            <a:srgbClr val="94A3B8"/>
                          </a:solidFill>
                        </a:defRPr>
                      </a:pPr>
                      <a:r>
                        <a:t>Drive lifecycle (Upcoming/Active/Completed), application tracking.</a:t>
                      </a:r>
                    </a:p>
                  </a:txBody>
                  <a:tcPr>
                    <a:solidFill>
                      <a:srgbClr val="0F172A"/>
                    </a:solidFill>
                  </a:tcPr>
                </a:tc>
              </a:tr>
              <a:tr h="746760">
                <a:tc>
                  <a:txBody>
                    <a:bodyPr/>
                    <a:lstStyle/>
                    <a:p>
                      <a:pPr>
                        <a:defRPr sz="1100">
                          <a:solidFill>
                            <a:srgbClr val="F8FAFC"/>
                          </a:solidFill>
                        </a:defRPr>
                      </a:pPr>
                      <a:r>
                        <a:t>placement_experiences &amp; nlp_results</a:t>
                      </a:r>
                    </a:p>
                  </a:txBody>
                  <a:tcPr>
                    <a:solidFill>
                      <a:srgbClr val="0F172A"/>
                    </a:solidFill>
                  </a:tcPr>
                </a:tc>
                <a:tc>
                  <a:txBody>
                    <a:bodyPr/>
                    <a:lstStyle/>
                    <a:p>
                      <a:pPr>
                        <a:defRPr sz="1100">
                          <a:solidFill>
                            <a:srgbClr val="94A3B8"/>
                          </a:solidFill>
                        </a:defRPr>
                      </a:pPr>
                      <a:r>
                        <a:t>id (PK), rating, feedback, sentiment, extracted_skills</a:t>
                      </a:r>
                    </a:p>
                  </a:txBody>
                  <a:tcPr>
                    <a:solidFill>
                      <a:srgbClr val="0F172A"/>
                    </a:solidFill>
                  </a:tcPr>
                </a:tc>
                <a:tc>
                  <a:txBody>
                    <a:bodyPr/>
                    <a:lstStyle/>
                    <a:p>
                      <a:pPr>
                        <a:defRPr sz="1100">
                          <a:solidFill>
                            <a:srgbClr val="94A3B8"/>
                          </a:solidFill>
                        </a:defRPr>
                      </a:pPr>
                      <a:r>
                        <a:t>FK to student, company; 1:1 with NLP results</a:t>
                      </a:r>
                    </a:p>
                  </a:txBody>
                  <a:tcPr>
                    <a:solidFill>
                      <a:srgbClr val="0F172A"/>
                    </a:solidFill>
                  </a:tcPr>
                </a:tc>
                <a:tc>
                  <a:txBody>
                    <a:bodyPr/>
                    <a:lstStyle/>
                    <a:p>
                      <a:pPr>
                        <a:defRPr sz="1100">
                          <a:solidFill>
                            <a:srgbClr val="94A3B8"/>
                          </a:solidFill>
                        </a:defRPr>
                      </a:pPr>
                      <a:r>
                        <a:t>Dual-modal logging, sentiment score, extracted taxonomy tags.</a:t>
                      </a:r>
                    </a:p>
                  </a:txBody>
                  <a:tcPr>
                    <a:solidFill>
                      <a:srgbClr val="0F172A"/>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lIns="0" tIns="0" rIns="0" bIns="0">
            <a:spAutoFit/>
          </a:bodyPr>
          <a:lstStyle/>
          <a:p>
            <a:pPr>
              <a:defRPr sz="1100" b="1">
                <a:solidFill>
                  <a:srgbClr val="38BDF8"/>
                </a:solidFill>
              </a:defRPr>
            </a:pPr>
            <a:r>
              <a:t>ADVANCED TECHNOLOGIES</a:t>
            </a:r>
          </a:p>
          <a:p>
            <a:pPr>
              <a:spcBef>
                <a:spcPts val="400"/>
              </a:spcBef>
              <a:defRPr sz="2400" b="1">
                <a:solidFill>
                  <a:srgbClr val="F8FAFC"/>
                </a:solidFill>
              </a:defRPr>
            </a:pPr>
            <a:r>
              <a:t>ASTMA: Qualitative Natural Language Processing</a:t>
            </a:r>
          </a:p>
        </p:txBody>
      </p:sp>
      <p:sp>
        <p:nvSpPr>
          <p:cNvPr id="4" name="Rounded Rectangle 3"/>
          <p:cNvSpPr/>
          <p:nvPr/>
        </p:nvSpPr>
        <p:spPr>
          <a:xfrm>
            <a:off x="731520" y="1645920"/>
            <a:ext cx="26060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2331720" cy="4114800"/>
          </a:xfrm>
          <a:prstGeom prst="rect">
            <a:avLst/>
          </a:prstGeom>
          <a:noFill/>
        </p:spPr>
        <p:txBody>
          <a:bodyPr wrap="square">
            <a:spAutoFit/>
          </a:bodyPr>
          <a:lstStyle/>
          <a:p>
            <a:pPr>
              <a:defRPr sz="1400" b="1">
                <a:solidFill>
                  <a:srgbClr val="38BDF8"/>
                </a:solidFill>
              </a:defRPr>
            </a:pPr>
            <a:r>
              <a:t>Step 1: Text Ingestion &amp; Cleaning</a:t>
            </a:r>
          </a:p>
          <a:p>
            <a:pPr>
              <a:spcBef>
                <a:spcPts val="1000"/>
              </a:spcBef>
              <a:defRPr sz="1100">
                <a:solidFill>
                  <a:srgbClr val="94A3B8"/>
                </a:solidFill>
              </a:defRPr>
            </a:pPr>
            <a:r>
              <a:t>• Accepts free-form student feedback and questions asked.</a:t>
            </a:r>
          </a:p>
          <a:p>
            <a:pPr>
              <a:spcBef>
                <a:spcPts val="1000"/>
              </a:spcBef>
              <a:defRPr sz="1100">
                <a:solidFill>
                  <a:srgbClr val="94A3B8"/>
                </a:solidFill>
              </a:defRPr>
            </a:pPr>
            <a:r>
              <a:t>• Normalizes case, expands English contractions, removes stop words.</a:t>
            </a:r>
          </a:p>
          <a:p>
            <a:pPr>
              <a:spcBef>
                <a:spcPts val="1000"/>
              </a:spcBef>
              <a:defRPr sz="1100">
                <a:solidFill>
                  <a:srgbClr val="94A3B8"/>
                </a:solidFill>
              </a:defRPr>
            </a:pPr>
            <a:r>
              <a:t>• Cleans special characters while preserving technical tokens (e.g., C++, C#, .NET).</a:t>
            </a:r>
          </a:p>
        </p:txBody>
      </p:sp>
      <p:sp>
        <p:nvSpPr>
          <p:cNvPr id="6" name="Rounded Rectangle 5"/>
          <p:cNvSpPr/>
          <p:nvPr/>
        </p:nvSpPr>
        <p:spPr>
          <a:xfrm>
            <a:off x="3429000" y="1645920"/>
            <a:ext cx="26060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828800"/>
            <a:ext cx="2331720" cy="4114800"/>
          </a:xfrm>
          <a:prstGeom prst="rect">
            <a:avLst/>
          </a:prstGeom>
          <a:noFill/>
        </p:spPr>
        <p:txBody>
          <a:bodyPr wrap="square">
            <a:spAutoFit/>
          </a:bodyPr>
          <a:lstStyle/>
          <a:p>
            <a:pPr>
              <a:defRPr sz="1400" b="1">
                <a:solidFill>
                  <a:srgbClr val="818CF8"/>
                </a:solidFill>
              </a:defRPr>
            </a:pPr>
            <a:r>
              <a:t>Step 2: Calibrated Sentiment Classifier</a:t>
            </a:r>
          </a:p>
          <a:p>
            <a:pPr>
              <a:spcBef>
                <a:spcPts val="1000"/>
              </a:spcBef>
              <a:defRPr sz="1100">
                <a:solidFill>
                  <a:srgbClr val="94A3B8"/>
                </a:solidFill>
              </a:defRPr>
            </a:pPr>
            <a:r>
              <a:t>• Dual-factor polarity scoring combining placement domain lexicon with numerical ratings.</a:t>
            </a:r>
          </a:p>
          <a:p>
            <a:pPr>
              <a:spcBef>
                <a:spcPts val="1000"/>
              </a:spcBef>
              <a:defRPr sz="1100">
                <a:solidFill>
                  <a:srgbClr val="94A3B8"/>
                </a:solidFill>
              </a:defRPr>
            </a:pPr>
            <a:r>
              <a:t>• Captures context modifiers: negations ('not fair') and intensifiers ('very tough').</a:t>
            </a:r>
          </a:p>
          <a:p>
            <a:pPr>
              <a:spcBef>
                <a:spcPts val="1000"/>
              </a:spcBef>
              <a:defRPr sz="1100">
                <a:solidFill>
                  <a:srgbClr val="94A3B8"/>
                </a:solidFill>
              </a:defRPr>
            </a:pPr>
            <a:r>
              <a:t>• Outputs discrete label: POSITIVE (&gt;=60%), NEUTRAL (40-60%), or NEGATIVE (&lt;=40%) with confidence score.</a:t>
            </a:r>
          </a:p>
        </p:txBody>
      </p:sp>
      <p:sp>
        <p:nvSpPr>
          <p:cNvPr id="8" name="Rounded Rectangle 7"/>
          <p:cNvSpPr/>
          <p:nvPr/>
        </p:nvSpPr>
        <p:spPr>
          <a:xfrm>
            <a:off x="6126480" y="1645920"/>
            <a:ext cx="26060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828800"/>
            <a:ext cx="2331720" cy="4114800"/>
          </a:xfrm>
          <a:prstGeom prst="rect">
            <a:avLst/>
          </a:prstGeom>
          <a:noFill/>
        </p:spPr>
        <p:txBody>
          <a:bodyPr wrap="square">
            <a:spAutoFit/>
          </a:bodyPr>
          <a:lstStyle/>
          <a:p>
            <a:pPr>
              <a:defRPr sz="1400" b="1">
                <a:solidFill>
                  <a:srgbClr val="34D399"/>
                </a:solidFill>
              </a:defRPr>
            </a:pPr>
            <a:r>
              <a:t>Step 3: Boundary Regex Skill Entity Extractor</a:t>
            </a:r>
          </a:p>
          <a:p>
            <a:pPr>
              <a:spcBef>
                <a:spcPts val="1000"/>
              </a:spcBef>
              <a:defRPr sz="1100">
                <a:solidFill>
                  <a:srgbClr val="94A3B8"/>
                </a:solidFill>
              </a:defRPr>
            </a:pPr>
            <a:r>
              <a:t>• Scans cleaned text against a curated taxonomy of 150+ skills across 7 domains.</a:t>
            </a:r>
          </a:p>
          <a:p>
            <a:pPr>
              <a:spcBef>
                <a:spcPts val="1000"/>
              </a:spcBef>
              <a:defRPr sz="1100">
                <a:solidFill>
                  <a:srgbClr val="94A3B8"/>
                </a:solidFill>
              </a:defRPr>
            </a:pPr>
            <a:r>
              <a:t>• Word boundary regex (_x0008_) prevents substring false positives (e.g., 'C' inside 'React').</a:t>
            </a:r>
          </a:p>
          <a:p>
            <a:pPr>
              <a:spcBef>
                <a:spcPts val="1000"/>
              </a:spcBef>
              <a:defRPr sz="1100">
                <a:solidFill>
                  <a:srgbClr val="94A3B8"/>
                </a:solidFill>
              </a:defRPr>
            </a:pPr>
            <a:r>
              <a:t>• Automatically harmonizes synonyms (e.g., 'k8s' -&gt; Kubernetes, 'reactjs' -&gt; React).</a:t>
            </a:r>
          </a:p>
        </p:txBody>
      </p:sp>
      <p:sp>
        <p:nvSpPr>
          <p:cNvPr id="10" name="Rounded Rectangle 9"/>
          <p:cNvSpPr/>
          <p:nvPr/>
        </p:nvSpPr>
        <p:spPr>
          <a:xfrm>
            <a:off x="8823960" y="1645920"/>
            <a:ext cx="26060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0" y="1828800"/>
            <a:ext cx="2331720" cy="4114800"/>
          </a:xfrm>
          <a:prstGeom prst="rect">
            <a:avLst/>
          </a:prstGeom>
          <a:noFill/>
        </p:spPr>
        <p:txBody>
          <a:bodyPr wrap="square">
            <a:spAutoFit/>
          </a:bodyPr>
          <a:lstStyle/>
          <a:p>
            <a:pPr>
              <a:defRPr sz="1400" b="1">
                <a:solidFill>
                  <a:srgbClr val="FBBF24"/>
                </a:solidFill>
              </a:defRPr>
            </a:pPr>
            <a:r>
              <a:t>Step 4: Topic &amp; Difficulty Inference</a:t>
            </a:r>
          </a:p>
          <a:p>
            <a:pPr>
              <a:spcBef>
                <a:spcPts val="1000"/>
              </a:spcBef>
              <a:defRPr sz="1100">
                <a:solidFill>
                  <a:srgbClr val="94A3B8"/>
                </a:solidFill>
              </a:defRPr>
            </a:pPr>
            <a:r>
              <a:t>• Categorizes rounds into Arrays/Strings, Trees/Graphs, DP, SQL, System Design, or HR.</a:t>
            </a:r>
          </a:p>
          <a:p>
            <a:pPr>
              <a:spcBef>
                <a:spcPts val="1000"/>
              </a:spcBef>
              <a:defRPr sz="1100">
                <a:solidFill>
                  <a:srgbClr val="94A3B8"/>
                </a:solidFill>
              </a:defRPr>
            </a:pPr>
            <a:r>
              <a:t>• Infers interview difficulty (EASY, MODERATE, HARD) by evaluating keyword pressure.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lIns="0" tIns="0" rIns="0" bIns="0">
            <a:spAutoFit/>
          </a:bodyPr>
          <a:lstStyle/>
          <a:p>
            <a:pPr>
              <a:defRPr sz="1100" b="1">
                <a:solidFill>
                  <a:srgbClr val="38BDF8"/>
                </a:solidFill>
              </a:defRPr>
            </a:pPr>
            <a:r>
              <a:t>PREDICTIVE ANALYTICS</a:t>
            </a:r>
          </a:p>
          <a:p>
            <a:pPr>
              <a:spcBef>
                <a:spcPts val="400"/>
              </a:spcBef>
              <a:defRPr sz="2400" b="1">
                <a:solidFill>
                  <a:srgbClr val="F8FAFC"/>
                </a:solidFill>
              </a:defRPr>
            </a:pPr>
            <a:r>
              <a:t>ASTMA: Explainable Placement Readiness Model</a:t>
            </a:r>
          </a:p>
        </p:txBody>
      </p:sp>
      <p:sp>
        <p:nvSpPr>
          <p:cNvPr id="4" name="Rounded Rectangle 3"/>
          <p:cNvSpPr/>
          <p:nvPr/>
        </p:nvSpPr>
        <p:spPr>
          <a:xfrm>
            <a:off x="731520" y="1645920"/>
            <a:ext cx="548640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5120640" cy="4114800"/>
          </a:xfrm>
          <a:prstGeom prst="rect">
            <a:avLst/>
          </a:prstGeom>
          <a:noFill/>
        </p:spPr>
        <p:txBody>
          <a:bodyPr wrap="square">
            <a:spAutoFit/>
          </a:bodyPr>
          <a:lstStyle/>
          <a:p>
            <a:pPr>
              <a:defRPr sz="1800" b="1">
                <a:solidFill>
                  <a:srgbClr val="38BDF8"/>
                </a:solidFill>
              </a:defRPr>
            </a:pPr>
            <a:r>
              <a:t>Supervised Tabular Feature Vector</a:t>
            </a:r>
          </a:p>
          <a:p>
            <a:pPr>
              <a:spcBef>
                <a:spcPts val="800"/>
              </a:spcBef>
            </a:pPr>
            <a:r>
              <a:rPr b="1" sz="1100">
                <a:solidFill>
                  <a:srgbClr val="F8FAFC"/>
                </a:solidFill>
              </a:rPr>
              <a:t>• Academic CGPA Foundation (25% Weight): </a:t>
            </a:r>
            <a:r>
              <a:rPr sz="1100">
                <a:solidFill>
                  <a:srgbClr val="94A3B8"/>
                </a:solidFill>
              </a:rPr>
              <a:t>Normalized scaling across standard 0 to 10 scale.</a:t>
            </a:r>
          </a:p>
          <a:p>
            <a:pPr>
              <a:spcBef>
                <a:spcPts val="800"/>
              </a:spcBef>
            </a:pPr>
            <a:r>
              <a:rPr b="1" sz="1100">
                <a:solidFill>
                  <a:srgbClr val="F8FAFC"/>
                </a:solidFill>
              </a:rPr>
              <a:t>• Technical Skills Depth (25% Weight): </a:t>
            </a:r>
            <a:r>
              <a:rPr sz="1100">
                <a:solidFill>
                  <a:srgbClr val="94A3B8"/>
                </a:solidFill>
              </a:rPr>
              <a:t>Verified technical and soft skills count logged in student inventory.</a:t>
            </a:r>
          </a:p>
          <a:p>
            <a:pPr>
              <a:spcBef>
                <a:spcPts val="800"/>
              </a:spcBef>
            </a:pPr>
            <a:r>
              <a:rPr b="1" sz="1100">
                <a:solidFill>
                  <a:srgbClr val="F8FAFC"/>
                </a:solidFill>
              </a:rPr>
              <a:t>• Target Role Alignment (25% Weight): </a:t>
            </a:r>
            <a:r>
              <a:rPr sz="1100">
                <a:solidFill>
                  <a:srgbClr val="94A3B8"/>
                </a:solidFill>
              </a:rPr>
              <a:t>Direct Jaccard overlap ratio between possessed skills and target recruiter requirements.</a:t>
            </a:r>
          </a:p>
          <a:p>
            <a:pPr>
              <a:spcBef>
                <a:spcPts val="800"/>
              </a:spcBef>
            </a:pPr>
            <a:r>
              <a:rPr b="1" sz="1100">
                <a:solidFill>
                  <a:srgbClr val="F8FAFC"/>
                </a:solidFill>
              </a:rPr>
              <a:t>• Project Portfolio (15% Weight): </a:t>
            </a:r>
            <a:r>
              <a:rPr sz="1100">
                <a:solidFill>
                  <a:srgbClr val="94A3B8"/>
                </a:solidFill>
              </a:rPr>
              <a:t>Completed engineering capstones and complex GitHub repositories.</a:t>
            </a:r>
          </a:p>
          <a:p>
            <a:pPr>
              <a:spcBef>
                <a:spcPts val="800"/>
              </a:spcBef>
            </a:pPr>
            <a:r>
              <a:rPr b="1" sz="1100">
                <a:solidFill>
                  <a:srgbClr val="F8FAFC"/>
                </a:solidFill>
              </a:rPr>
              <a:t>• Industry Experience (10% Weight): </a:t>
            </a:r>
            <a:r>
              <a:rPr sz="1100">
                <a:solidFill>
                  <a:srgbClr val="94A3B8"/>
                </a:solidFill>
              </a:rPr>
              <a:t>Completed industry internships and professional certifications.</a:t>
            </a:r>
          </a:p>
        </p:txBody>
      </p:sp>
      <p:sp>
        <p:nvSpPr>
          <p:cNvPr id="6" name="Rounded Rectangle 5"/>
          <p:cNvSpPr/>
          <p:nvPr/>
        </p:nvSpPr>
        <p:spPr>
          <a:xfrm>
            <a:off x="6583680" y="1645920"/>
            <a:ext cx="48463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0" y="1828800"/>
            <a:ext cx="4480560" cy="4114800"/>
          </a:xfrm>
          <a:prstGeom prst="rect">
            <a:avLst/>
          </a:prstGeom>
          <a:noFill/>
        </p:spPr>
        <p:txBody>
          <a:bodyPr wrap="square">
            <a:spAutoFit/>
          </a:bodyPr>
          <a:lstStyle/>
          <a:p>
            <a:pPr>
              <a:defRPr sz="1800" b="1">
                <a:solidFill>
                  <a:srgbClr val="34D399"/>
                </a:solidFill>
              </a:defRPr>
            </a:pPr>
            <a:r>
              <a:t>Readiness Tiers &amp; Ethical Guardrails</a:t>
            </a:r>
          </a:p>
          <a:p>
            <a:pPr>
              <a:spcBef>
                <a:spcPts val="600"/>
              </a:spcBef>
            </a:pPr>
            <a:r>
              <a:rPr b="1" sz="1100">
                <a:solidFill>
                  <a:srgbClr val="F8FAFC"/>
                </a:solidFill>
              </a:rPr>
              <a:t>✓ Strong Candidate (&gt;= 85%): </a:t>
            </a:r>
            <a:r>
              <a:rPr sz="1100">
                <a:solidFill>
                  <a:srgbClr val="94A3B8"/>
                </a:solidFill>
              </a:rPr>
              <a:t>Exceptional academic credentials, full target skill alignment, projects.</a:t>
            </a:r>
          </a:p>
          <a:p>
            <a:pPr>
              <a:spcBef>
                <a:spcPts val="600"/>
              </a:spcBef>
            </a:pPr>
            <a:r>
              <a:rPr b="1" sz="1100">
                <a:solidFill>
                  <a:srgbClr val="F8FAFC"/>
                </a:solidFill>
              </a:rPr>
              <a:t>✓ Placement Ready (70% - 84%): </a:t>
            </a:r>
            <a:r>
              <a:rPr sz="1100">
                <a:solidFill>
                  <a:srgbClr val="94A3B8"/>
                </a:solidFill>
              </a:rPr>
              <a:t>Meets major recruiter requirements; eligible for tier-1 campus drives.</a:t>
            </a:r>
          </a:p>
          <a:p>
            <a:pPr>
              <a:spcBef>
                <a:spcPts val="600"/>
              </a:spcBef>
            </a:pPr>
            <a:r>
              <a:rPr b="1" sz="1100">
                <a:solidFill>
                  <a:srgbClr val="F8FAFC"/>
                </a:solidFill>
              </a:rPr>
              <a:t>✓ Developing (50% - 69%): </a:t>
            </a:r>
            <a:r>
              <a:rPr sz="1100">
                <a:solidFill>
                  <a:srgbClr val="94A3B8"/>
                </a:solidFill>
              </a:rPr>
              <a:t>Solid foundations; targeted skill improvement recommended.</a:t>
            </a:r>
          </a:p>
          <a:p>
            <a:pPr>
              <a:spcBef>
                <a:spcPts val="600"/>
              </a:spcBef>
            </a:pPr>
            <a:r>
              <a:rPr b="1" sz="1100">
                <a:solidFill>
                  <a:srgbClr val="F8FAFC"/>
                </a:solidFill>
              </a:rPr>
              <a:t>✓ Needs Improvement (&lt; 50%): </a:t>
            </a:r>
            <a:r>
              <a:rPr sz="1100">
                <a:solidFill>
                  <a:srgbClr val="94A3B8"/>
                </a:solidFill>
              </a:rPr>
              <a:t>Immediate skill-gap interventions and faculty mentorship indicated.</a:t>
            </a:r>
          </a:p>
          <a:p>
            <a:pPr>
              <a:spcBef>
                <a:spcPts val="1400"/>
              </a:spcBef>
            </a:pPr>
            <a:r>
              <a:rPr b="1" sz="1100">
                <a:solidFill>
                  <a:srgbClr val="FBBF24"/>
                </a:solidFill>
              </a:rPr>
              <a:t>ETHICAL NON-DISCRIMINATORY GUARANTEE:
</a:t>
            </a:r>
            <a:r>
              <a:rPr sz="1000">
                <a:solidFill>
                  <a:srgbClr val="94A3B8"/>
                </a:solidFill>
              </a:rPr>
              <a:t>Strictly excludes demographic, gender, religious, or socioeconomic traits. Formulated purely as an educational decision-support estimate, not an employment guarantee.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lIns="0" tIns="0" rIns="0" bIns="0">
            <a:spAutoFit/>
          </a:bodyPr>
          <a:lstStyle/>
          <a:p>
            <a:pPr>
              <a:defRPr sz="1100" b="1">
                <a:solidFill>
                  <a:srgbClr val="38BDF8"/>
                </a:solidFill>
              </a:defRPr>
            </a:pPr>
            <a:r>
              <a:t>DECISION SUPPORT SYSTEM</a:t>
            </a:r>
          </a:p>
          <a:p>
            <a:pPr>
              <a:spcBef>
                <a:spcPts val="400"/>
              </a:spcBef>
              <a:defRPr sz="2400" b="1">
                <a:solidFill>
                  <a:srgbClr val="F8FAFC"/>
                </a:solidFill>
              </a:defRPr>
            </a:pPr>
            <a:r>
              <a:t>Explainable Skill-Gap &amp; Recommendation Engine</a:t>
            </a:r>
          </a:p>
        </p:txBody>
      </p:sp>
      <p:sp>
        <p:nvSpPr>
          <p:cNvPr id="4" name="Rounded Rectangle 3"/>
          <p:cNvSpPr/>
          <p:nvPr/>
        </p:nvSpPr>
        <p:spPr>
          <a:xfrm>
            <a:off x="731520" y="1645920"/>
            <a:ext cx="106984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10149840" cy="4114800"/>
          </a:xfrm>
          <a:prstGeom prst="rect">
            <a:avLst/>
          </a:prstGeom>
          <a:noFill/>
        </p:spPr>
        <p:txBody>
          <a:bodyPr wrap="square">
            <a:spAutoFit/>
          </a:bodyPr>
          <a:lstStyle/>
          <a:p>
            <a:pPr>
              <a:defRPr sz="1800" b="1">
                <a:solidFill>
                  <a:srgbClr val="818CF8"/>
                </a:solidFill>
              </a:defRPr>
            </a:pPr>
            <a:r>
              <a:t>Mathematical Set-Difference &amp; Statistical Justification</a:t>
            </a:r>
          </a:p>
          <a:p>
            <a:pPr>
              <a:spcBef>
                <a:spcPts val="600"/>
              </a:spcBef>
              <a:defRPr sz="1300" b="1">
                <a:solidFill>
                  <a:srgbClr val="38BDF8"/>
                </a:solidFill>
              </a:defRPr>
            </a:pPr>
            <a:r>
              <a:t>Skill Gap = S_Required(Target Role / Company) \ S_Acquired(Student Profile)</a:t>
            </a:r>
          </a:p>
          <a:p>
            <a:pPr>
              <a:spcBef>
                <a:spcPts val="1000"/>
              </a:spcBef>
            </a:pPr>
            <a:r>
              <a:rPr b="1" sz="1200">
                <a:solidFill>
                  <a:srgbClr val="F8FAFC"/>
                </a:solidFill>
              </a:rPr>
              <a:t>• 1. Benchmark Extraction: </a:t>
            </a:r>
            <a:r>
              <a:rPr sz="1200">
                <a:solidFill>
                  <a:srgbClr val="94A3B8"/>
                </a:solidFill>
              </a:rPr>
              <a:t>Retrieves required skill vector from active job roles and verified recruiter drive experiences.</a:t>
            </a:r>
          </a:p>
          <a:p>
            <a:pPr>
              <a:spcBef>
                <a:spcPts val="1000"/>
              </a:spcBef>
            </a:pPr>
            <a:r>
              <a:rPr b="1" sz="1200">
                <a:solidFill>
                  <a:srgbClr val="F8FAFC"/>
                </a:solidFill>
              </a:rPr>
              <a:t>• 2. Set Intersection &amp; Competency Audit: </a:t>
            </a:r>
            <a:r>
              <a:rPr sz="1200">
                <a:solidFill>
                  <a:srgbClr val="94A3B8"/>
                </a:solidFill>
              </a:rPr>
              <a:t>Identifies possessed skills (e.g., Python, SQL, Git) versus missing requirements (e.g., Docker, Power BI).</a:t>
            </a:r>
          </a:p>
          <a:p>
            <a:pPr>
              <a:spcBef>
                <a:spcPts val="1000"/>
              </a:spcBef>
            </a:pPr>
            <a:r>
              <a:rPr b="1" sz="1200">
                <a:solidFill>
                  <a:srgbClr val="F8FAFC"/>
                </a:solidFill>
              </a:rPr>
              <a:t>• 3. Statistical Demand Weighting: </a:t>
            </a:r>
            <a:r>
              <a:rPr sz="1200">
                <a:solidFill>
                  <a:srgbClr val="94A3B8"/>
                </a:solidFill>
              </a:rPr>
              <a:t>Computes the exact historical market frequency of missing skills across all verified company drives.</a:t>
            </a:r>
          </a:p>
          <a:p>
            <a:pPr>
              <a:spcBef>
                <a:spcPts val="1000"/>
              </a:spcBef>
            </a:pPr>
            <a:r>
              <a:rPr b="1" sz="1200">
                <a:solidFill>
                  <a:srgbClr val="F8FAFC"/>
                </a:solidFill>
              </a:rPr>
              <a:t>• 4. Explainable Rationale Generation (XAI): </a:t>
            </a:r>
            <a:r>
              <a:rPr sz="1200">
                <a:solidFill>
                  <a:srgbClr val="94A3B8"/>
                </a:solidFill>
              </a:rPr>
              <a:t>Constructs auditable justifications. Example: 'Docker is recommended because it appeared in 68% of Cloud Engineer placement rounds, but is currently missing from your profile.'</a:t>
            </a:r>
          </a:p>
          <a:p>
            <a:pPr>
              <a:spcBef>
                <a:spcPts val="1000"/>
              </a:spcBef>
            </a:pPr>
            <a:r>
              <a:rPr b="1" sz="1200">
                <a:solidFill>
                  <a:srgbClr val="F8FAFC"/>
                </a:solidFill>
              </a:rPr>
              <a:t>• 5. Actionable Roadmap Synthesis: </a:t>
            </a:r>
            <a:r>
              <a:rPr sz="1200">
                <a:solidFill>
                  <a:srgbClr val="94A3B8"/>
                </a:solidFill>
              </a:rPr>
              <a:t>Provides actionable milestones: concept review, GitHub project integration, and problem set practice.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lIns="0" tIns="0" rIns="0" bIns="0">
            <a:spAutoFit/>
          </a:bodyPr>
          <a:lstStyle/>
          <a:p>
            <a:pPr>
              <a:defRPr sz="1100" b="1">
                <a:solidFill>
                  <a:srgbClr val="38BDF8"/>
                </a:solidFill>
              </a:defRPr>
            </a:pPr>
            <a:r>
              <a:t>PROJECT MANAGEMENT ARTIFACT</a:t>
            </a:r>
          </a:p>
          <a:p>
            <a:pPr>
              <a:spcBef>
                <a:spcPts val="400"/>
              </a:spcBef>
              <a:defRPr sz="2400" b="1">
                <a:solidFill>
                  <a:srgbClr val="F8FAFC"/>
                </a:solidFill>
              </a:defRPr>
            </a:pPr>
            <a:r>
              <a:t>ITPM: 14-Week Solo Agile/Scrum Delivery Plan</a:t>
            </a:r>
          </a:p>
        </p:txBody>
      </p:sp>
      <p:graphicFrame>
        <p:nvGraphicFramePr>
          <p:cNvPr id="4" name="Table 3"/>
          <p:cNvGraphicFramePr>
            <a:graphicFrameLocks noGrp="1"/>
          </p:cNvGraphicFramePr>
          <p:nvPr/>
        </p:nvGraphicFramePr>
        <p:xfrm>
          <a:off x="731520" y="1645920"/>
          <a:ext cx="10698480" cy="4480560"/>
        </p:xfrm>
        <a:graphic>
          <a:graphicData uri="http://schemas.openxmlformats.org/drawingml/2006/table">
            <a:tbl>
              <a:tblPr firstRow="1" bandRow="1">
                <a:tableStyleId>{5C22544A-7EE6-4342-B048-85BDC9FD1C3A}</a:tableStyleId>
              </a:tblPr>
              <a:tblGrid>
                <a:gridCol w="1371600"/>
                <a:gridCol w="1828800"/>
                <a:gridCol w="5303520"/>
                <a:gridCol w="2194560"/>
              </a:tblGrid>
              <a:tr h="560070">
                <a:tc>
                  <a:txBody>
                    <a:bodyPr/>
                    <a:lstStyle/>
                    <a:p>
                      <a:pPr>
                        <a:defRPr b="1" sz="1100">
                          <a:solidFill>
                            <a:srgbClr val="38BDF8"/>
                          </a:solidFill>
                        </a:defRPr>
                      </a:pPr>
                      <a:r>
                        <a:t>Sprint</a:t>
                      </a:r>
                    </a:p>
                  </a:txBody>
                  <a:tcPr>
                    <a:solidFill>
                      <a:srgbClr val="1E293B"/>
                    </a:solidFill>
                  </a:tcPr>
                </a:tc>
                <a:tc>
                  <a:txBody>
                    <a:bodyPr/>
                    <a:lstStyle/>
                    <a:p>
                      <a:pPr>
                        <a:defRPr b="1" sz="1100">
                          <a:solidFill>
                            <a:srgbClr val="38BDF8"/>
                          </a:solidFill>
                        </a:defRPr>
                      </a:pPr>
                      <a:r>
                        <a:t>Timeline</a:t>
                      </a:r>
                    </a:p>
                  </a:txBody>
                  <a:tcPr>
                    <a:solidFill>
                      <a:srgbClr val="1E293B"/>
                    </a:solidFill>
                  </a:tcPr>
                </a:tc>
                <a:tc>
                  <a:txBody>
                    <a:bodyPr/>
                    <a:lstStyle/>
                    <a:p>
                      <a:pPr>
                        <a:defRPr b="1" sz="1100">
                          <a:solidFill>
                            <a:srgbClr val="38BDF8"/>
                          </a:solidFill>
                        </a:defRPr>
                      </a:pPr>
                      <a:r>
                        <a:t>Core Objectives &amp; Deliverables</a:t>
                      </a:r>
                    </a:p>
                  </a:txBody>
                  <a:tcPr>
                    <a:solidFill>
                      <a:srgbClr val="1E293B"/>
                    </a:solidFill>
                  </a:tcPr>
                </a:tc>
                <a:tc>
                  <a:txBody>
                    <a:bodyPr/>
                    <a:lstStyle/>
                    <a:p>
                      <a:pPr>
                        <a:defRPr b="1" sz="1100">
                          <a:solidFill>
                            <a:srgbClr val="38BDF8"/>
                          </a:solidFill>
                        </a:defRPr>
                      </a:pPr>
                      <a:r>
                        <a:t>Methodology State</a:t>
                      </a:r>
                    </a:p>
                  </a:txBody>
                  <a:tcPr>
                    <a:solidFill>
                      <a:srgbClr val="1E293B"/>
                    </a:solidFill>
                  </a:tcPr>
                </a:tc>
              </a:tr>
              <a:tr h="560070">
                <a:tc>
                  <a:txBody>
                    <a:bodyPr/>
                    <a:lstStyle/>
                    <a:p>
                      <a:pPr>
                        <a:defRPr sz="1000" b="1">
                          <a:solidFill>
                            <a:srgbClr val="F8FAFC"/>
                          </a:solidFill>
                        </a:defRPr>
                      </a:pPr>
                      <a:r>
                        <a:t>Sprint 1</a:t>
                      </a:r>
                    </a:p>
                  </a:txBody>
                  <a:tcPr>
                    <a:solidFill>
                      <a:srgbClr val="0F172A"/>
                    </a:solidFill>
                  </a:tcPr>
                </a:tc>
                <a:tc>
                  <a:txBody>
                    <a:bodyPr/>
                    <a:lstStyle/>
                    <a:p>
                      <a:pPr>
                        <a:defRPr sz="1000">
                          <a:solidFill>
                            <a:srgbClr val="94A3B8"/>
                          </a:solidFill>
                        </a:defRPr>
                      </a:pPr>
                      <a:r>
                        <a:t>Weeks 1 - 2</a:t>
                      </a:r>
                    </a:p>
                  </a:txBody>
                  <a:tcPr>
                    <a:solidFill>
                      <a:srgbClr val="0F172A"/>
                    </a:solidFill>
                  </a:tcPr>
                </a:tc>
                <a:tc>
                  <a:txBody>
                    <a:bodyPr/>
                    <a:lstStyle/>
                    <a:p>
                      <a:pPr>
                        <a:defRPr sz="1000">
                          <a:solidFill>
                            <a:srgbClr val="94A3B8"/>
                          </a:solidFill>
                        </a:defRPr>
                      </a:pPr>
                      <a:r>
                        <a:t>Scope formulation, normalized database schemas, JWT auth engine, RBAC middleware.</a:t>
                      </a:r>
                    </a:p>
                  </a:txBody>
                  <a:tcPr>
                    <a:solidFill>
                      <a:srgbClr val="0F172A"/>
                    </a:solidFill>
                  </a:tcPr>
                </a:tc>
                <a:tc>
                  <a:txBody>
                    <a:bodyPr/>
                    <a:lstStyle/>
                    <a:p>
                      <a:pPr>
                        <a:defRPr sz="1000">
                          <a:solidFill>
                            <a:srgbClr val="34D399"/>
                          </a:solidFill>
                        </a:defRPr>
                      </a:pPr>
                      <a:r>
                        <a:t>COMPLETED (Verified)</a:t>
                      </a:r>
                    </a:p>
                  </a:txBody>
                  <a:tcPr>
                    <a:solidFill>
                      <a:srgbClr val="0F172A"/>
                    </a:solidFill>
                  </a:tcPr>
                </a:tc>
              </a:tr>
              <a:tr h="560070">
                <a:tc>
                  <a:txBody>
                    <a:bodyPr/>
                    <a:lstStyle/>
                    <a:p>
                      <a:pPr>
                        <a:defRPr sz="1000" b="1">
                          <a:solidFill>
                            <a:srgbClr val="F8FAFC"/>
                          </a:solidFill>
                        </a:defRPr>
                      </a:pPr>
                      <a:r>
                        <a:t>Sprint 2</a:t>
                      </a:r>
                    </a:p>
                  </a:txBody>
                  <a:tcPr>
                    <a:solidFill>
                      <a:srgbClr val="0F172A"/>
                    </a:solidFill>
                  </a:tcPr>
                </a:tc>
                <a:tc>
                  <a:txBody>
                    <a:bodyPr/>
                    <a:lstStyle/>
                    <a:p>
                      <a:pPr>
                        <a:defRPr sz="1000">
                          <a:solidFill>
                            <a:srgbClr val="94A3B8"/>
                          </a:solidFill>
                        </a:defRPr>
                      </a:pPr>
                      <a:r>
                        <a:t>Weeks 3 - 4</a:t>
                      </a:r>
                    </a:p>
                  </a:txBody>
                  <a:tcPr>
                    <a:solidFill>
                      <a:srgbClr val="0F172A"/>
                    </a:solidFill>
                  </a:tcPr>
                </a:tc>
                <a:tc>
                  <a:txBody>
                    <a:bodyPr/>
                    <a:lstStyle/>
                    <a:p>
                      <a:pPr>
                        <a:defRPr sz="1000">
                          <a:solidFill>
                            <a:srgbClr val="94A3B8"/>
                          </a:solidFill>
                        </a:defRPr>
                      </a:pPr>
                      <a:r>
                        <a:t>Master entities CRUD: Departments, Skills catalog, Companies, Job Roles, Drives.</a:t>
                      </a:r>
                    </a:p>
                  </a:txBody>
                  <a:tcPr>
                    <a:solidFill>
                      <a:srgbClr val="0F172A"/>
                    </a:solidFill>
                  </a:tcPr>
                </a:tc>
                <a:tc>
                  <a:txBody>
                    <a:bodyPr/>
                    <a:lstStyle/>
                    <a:p>
                      <a:pPr>
                        <a:defRPr sz="1000">
                          <a:solidFill>
                            <a:srgbClr val="34D399"/>
                          </a:solidFill>
                        </a:defRPr>
                      </a:pPr>
                      <a:r>
                        <a:t>COMPLETED (Verified)</a:t>
                      </a:r>
                    </a:p>
                  </a:txBody>
                  <a:tcPr>
                    <a:solidFill>
                      <a:srgbClr val="0F172A"/>
                    </a:solidFill>
                  </a:tcPr>
                </a:tc>
              </a:tr>
              <a:tr h="560070">
                <a:tc>
                  <a:txBody>
                    <a:bodyPr/>
                    <a:lstStyle/>
                    <a:p>
                      <a:pPr>
                        <a:defRPr sz="1000" b="1">
                          <a:solidFill>
                            <a:srgbClr val="F8FAFC"/>
                          </a:solidFill>
                        </a:defRPr>
                      </a:pPr>
                      <a:r>
                        <a:t>Sprint 3</a:t>
                      </a:r>
                    </a:p>
                  </a:txBody>
                  <a:tcPr>
                    <a:solidFill>
                      <a:srgbClr val="0F172A"/>
                    </a:solidFill>
                  </a:tcPr>
                </a:tc>
                <a:tc>
                  <a:txBody>
                    <a:bodyPr/>
                    <a:lstStyle/>
                    <a:p>
                      <a:pPr>
                        <a:defRPr sz="1000">
                          <a:solidFill>
                            <a:srgbClr val="94A3B8"/>
                          </a:solidFill>
                        </a:defRPr>
                      </a:pPr>
                      <a:r>
                        <a:t>Weeks 5 - 6</a:t>
                      </a:r>
                    </a:p>
                  </a:txBody>
                  <a:tcPr>
                    <a:solidFill>
                      <a:srgbClr val="0F172A"/>
                    </a:solidFill>
                  </a:tcPr>
                </a:tc>
                <a:tc>
                  <a:txBody>
                    <a:bodyPr/>
                    <a:lstStyle/>
                    <a:p>
                      <a:pPr>
                        <a:defRPr sz="1000">
                          <a:solidFill>
                            <a:srgbClr val="94A3B8"/>
                          </a:solidFill>
                        </a:defRPr>
                      </a:pPr>
                      <a:r>
                        <a:t>Student profile portfolio, interview logging wizard, TPO moderation queue.</a:t>
                      </a:r>
                    </a:p>
                  </a:txBody>
                  <a:tcPr>
                    <a:solidFill>
                      <a:srgbClr val="0F172A"/>
                    </a:solidFill>
                  </a:tcPr>
                </a:tc>
                <a:tc>
                  <a:txBody>
                    <a:bodyPr/>
                    <a:lstStyle/>
                    <a:p>
                      <a:pPr>
                        <a:defRPr sz="1000">
                          <a:solidFill>
                            <a:srgbClr val="34D399"/>
                          </a:solidFill>
                        </a:defRPr>
                      </a:pPr>
                      <a:r>
                        <a:t>COMPLETED (Verified)</a:t>
                      </a:r>
                    </a:p>
                  </a:txBody>
                  <a:tcPr>
                    <a:solidFill>
                      <a:srgbClr val="0F172A"/>
                    </a:solidFill>
                  </a:tcPr>
                </a:tc>
              </a:tr>
              <a:tr h="560070">
                <a:tc>
                  <a:txBody>
                    <a:bodyPr/>
                    <a:lstStyle/>
                    <a:p>
                      <a:pPr>
                        <a:defRPr sz="1000" b="1">
                          <a:solidFill>
                            <a:srgbClr val="F8FAFC"/>
                          </a:solidFill>
                        </a:defRPr>
                      </a:pPr>
                      <a:r>
                        <a:t>Sprint 4</a:t>
                      </a:r>
                    </a:p>
                  </a:txBody>
                  <a:tcPr>
                    <a:solidFill>
                      <a:srgbClr val="0F172A"/>
                    </a:solidFill>
                  </a:tcPr>
                </a:tc>
                <a:tc>
                  <a:txBody>
                    <a:bodyPr/>
                    <a:lstStyle/>
                    <a:p>
                      <a:pPr>
                        <a:defRPr sz="1000">
                          <a:solidFill>
                            <a:srgbClr val="94A3B8"/>
                          </a:solidFill>
                        </a:defRPr>
                      </a:pPr>
                      <a:r>
                        <a:t>Weeks 7 - 8</a:t>
                      </a:r>
                    </a:p>
                  </a:txBody>
                  <a:tcPr>
                    <a:solidFill>
                      <a:srgbClr val="0F172A"/>
                    </a:solidFill>
                  </a:tcPr>
                </a:tc>
                <a:tc>
                  <a:txBody>
                    <a:bodyPr/>
                    <a:lstStyle/>
                    <a:p>
                      <a:pPr>
                        <a:defRPr sz="1000">
                          <a:solidFill>
                            <a:srgbClr val="94A3B8"/>
                          </a:solidFill>
                        </a:defRPr>
                      </a:pPr>
                      <a:r>
                        <a:t>ASTMA NLP pipeline: sentiment classifier, boundary skill extractor, topics.</a:t>
                      </a:r>
                    </a:p>
                  </a:txBody>
                  <a:tcPr>
                    <a:solidFill>
                      <a:srgbClr val="0F172A"/>
                    </a:solidFill>
                  </a:tcPr>
                </a:tc>
                <a:tc>
                  <a:txBody>
                    <a:bodyPr/>
                    <a:lstStyle/>
                    <a:p>
                      <a:pPr>
                        <a:defRPr sz="1000">
                          <a:solidFill>
                            <a:srgbClr val="34D399"/>
                          </a:solidFill>
                        </a:defRPr>
                      </a:pPr>
                      <a:r>
                        <a:t>COMPLETED (Verified)</a:t>
                      </a:r>
                    </a:p>
                  </a:txBody>
                  <a:tcPr>
                    <a:solidFill>
                      <a:srgbClr val="0F172A"/>
                    </a:solidFill>
                  </a:tcPr>
                </a:tc>
              </a:tr>
              <a:tr h="560070">
                <a:tc>
                  <a:txBody>
                    <a:bodyPr/>
                    <a:lstStyle/>
                    <a:p>
                      <a:pPr>
                        <a:defRPr sz="1000" b="1">
                          <a:solidFill>
                            <a:srgbClr val="F8FAFC"/>
                          </a:solidFill>
                        </a:defRPr>
                      </a:pPr>
                      <a:r>
                        <a:t>Sprint 5</a:t>
                      </a:r>
                    </a:p>
                  </a:txBody>
                  <a:tcPr>
                    <a:solidFill>
                      <a:srgbClr val="0F172A"/>
                    </a:solidFill>
                  </a:tcPr>
                </a:tc>
                <a:tc>
                  <a:txBody>
                    <a:bodyPr/>
                    <a:lstStyle/>
                    <a:p>
                      <a:pPr>
                        <a:defRPr sz="1000">
                          <a:solidFill>
                            <a:srgbClr val="94A3B8"/>
                          </a:solidFill>
                        </a:defRPr>
                      </a:pPr>
                      <a:r>
                        <a:t>Weeks 9 - 10</a:t>
                      </a:r>
                    </a:p>
                  </a:txBody>
                  <a:tcPr>
                    <a:solidFill>
                      <a:srgbClr val="0F172A"/>
                    </a:solidFill>
                  </a:tcPr>
                </a:tc>
                <a:tc>
                  <a:txBody>
                    <a:bodyPr/>
                    <a:lstStyle/>
                    <a:p>
                      <a:pPr>
                        <a:defRPr sz="1000">
                          <a:solidFill>
                            <a:srgbClr val="94A3B8"/>
                          </a:solidFill>
                        </a:defRPr>
                      </a:pPr>
                      <a:r>
                        <a:t>Readiness scoring model, explainable skill-gap analyzer, frequency recommendations.</a:t>
                      </a:r>
                    </a:p>
                  </a:txBody>
                  <a:tcPr>
                    <a:solidFill>
                      <a:srgbClr val="0F172A"/>
                    </a:solidFill>
                  </a:tcPr>
                </a:tc>
                <a:tc>
                  <a:txBody>
                    <a:bodyPr/>
                    <a:lstStyle/>
                    <a:p>
                      <a:pPr>
                        <a:defRPr sz="1000">
                          <a:solidFill>
                            <a:srgbClr val="34D399"/>
                          </a:solidFill>
                        </a:defRPr>
                      </a:pPr>
                      <a:r>
                        <a:t>COMPLETED (Verified)</a:t>
                      </a:r>
                    </a:p>
                  </a:txBody>
                  <a:tcPr>
                    <a:solidFill>
                      <a:srgbClr val="0F172A"/>
                    </a:solidFill>
                  </a:tcPr>
                </a:tc>
              </a:tr>
              <a:tr h="560070">
                <a:tc>
                  <a:txBody>
                    <a:bodyPr/>
                    <a:lstStyle/>
                    <a:p>
                      <a:pPr>
                        <a:defRPr sz="1000" b="1">
                          <a:solidFill>
                            <a:srgbClr val="F8FAFC"/>
                          </a:solidFill>
                        </a:defRPr>
                      </a:pPr>
                      <a:r>
                        <a:t>Sprint 6</a:t>
                      </a:r>
                    </a:p>
                  </a:txBody>
                  <a:tcPr>
                    <a:solidFill>
                      <a:srgbClr val="0F172A"/>
                    </a:solidFill>
                  </a:tcPr>
                </a:tc>
                <a:tc>
                  <a:txBody>
                    <a:bodyPr/>
                    <a:lstStyle/>
                    <a:p>
                      <a:pPr>
                        <a:defRPr sz="1000">
                          <a:solidFill>
                            <a:srgbClr val="94A3B8"/>
                          </a:solidFill>
                        </a:defRPr>
                      </a:pPr>
                      <a:r>
                        <a:t>Weeks 11 - 12</a:t>
                      </a:r>
                    </a:p>
                  </a:txBody>
                  <a:tcPr>
                    <a:solidFill>
                      <a:srgbClr val="0F172A"/>
                    </a:solidFill>
                  </a:tcPr>
                </a:tc>
                <a:tc>
                  <a:txBody>
                    <a:bodyPr/>
                    <a:lstStyle/>
                    <a:p>
                      <a:pPr>
                        <a:defRPr sz="1000">
                          <a:solidFill>
                            <a:srgbClr val="94A3B8"/>
                          </a:solidFill>
                        </a:defRPr>
                      </a:pPr>
                      <a:r>
                        <a:t>React 19 enterprise dashboards (Student, TPO, Admin, Faculty) with Recharts.</a:t>
                      </a:r>
                    </a:p>
                  </a:txBody>
                  <a:tcPr>
                    <a:solidFill>
                      <a:srgbClr val="0F172A"/>
                    </a:solidFill>
                  </a:tcPr>
                </a:tc>
                <a:tc>
                  <a:txBody>
                    <a:bodyPr/>
                    <a:lstStyle/>
                    <a:p>
                      <a:pPr>
                        <a:defRPr sz="1000">
                          <a:solidFill>
                            <a:srgbClr val="34D399"/>
                          </a:solidFill>
                        </a:defRPr>
                      </a:pPr>
                      <a:r>
                        <a:t>COMPLETED (Verified)</a:t>
                      </a:r>
                    </a:p>
                  </a:txBody>
                  <a:tcPr>
                    <a:solidFill>
                      <a:srgbClr val="0F172A"/>
                    </a:solidFill>
                  </a:tcPr>
                </a:tc>
              </a:tr>
              <a:tr h="560070">
                <a:tc>
                  <a:txBody>
                    <a:bodyPr/>
                    <a:lstStyle/>
                    <a:p>
                      <a:pPr>
                        <a:defRPr sz="1000" b="1">
                          <a:solidFill>
                            <a:srgbClr val="F8FAFC"/>
                          </a:solidFill>
                        </a:defRPr>
                      </a:pPr>
                      <a:r>
                        <a:t>Sprint 7</a:t>
                      </a:r>
                    </a:p>
                  </a:txBody>
                  <a:tcPr>
                    <a:solidFill>
                      <a:srgbClr val="0F172A"/>
                    </a:solidFill>
                  </a:tcPr>
                </a:tc>
                <a:tc>
                  <a:txBody>
                    <a:bodyPr/>
                    <a:lstStyle/>
                    <a:p>
                      <a:pPr>
                        <a:defRPr sz="1000">
                          <a:solidFill>
                            <a:srgbClr val="94A3B8"/>
                          </a:solidFill>
                        </a:defRPr>
                      </a:pPr>
                      <a:r>
                        <a:t>Weeks 13 - 14</a:t>
                      </a:r>
                    </a:p>
                  </a:txBody>
                  <a:tcPr>
                    <a:solidFill>
                      <a:srgbClr val="0F172A"/>
                    </a:solidFill>
                  </a:tcPr>
                </a:tc>
                <a:tc>
                  <a:txBody>
                    <a:bodyPr/>
                    <a:lstStyle/>
                    <a:p>
                      <a:pPr>
                        <a:defRPr sz="1000">
                          <a:solidFill>
                            <a:srgbClr val="94A3B8"/>
                          </a:solidFill>
                        </a:defRPr>
                      </a:pPr>
                      <a:r>
                        <a:t>Pytest automated integration test suite, synthetic data seeding, viva preparation.</a:t>
                      </a:r>
                    </a:p>
                  </a:txBody>
                  <a:tcPr>
                    <a:solidFill>
                      <a:srgbClr val="0F172A"/>
                    </a:solidFill>
                  </a:tcPr>
                </a:tc>
                <a:tc>
                  <a:txBody>
                    <a:bodyPr/>
                    <a:lstStyle/>
                    <a:p>
                      <a:pPr>
                        <a:defRPr sz="1000">
                          <a:solidFill>
                            <a:srgbClr val="34D399"/>
                          </a:solidFill>
                        </a:defRPr>
                      </a:pPr>
                      <a:r>
                        <a:t>COMPLETED (Verified)</a:t>
                      </a:r>
                    </a:p>
                  </a:txBody>
                  <a:tcPr>
                    <a:solidFill>
                      <a:srgbClr val="0F172A"/>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lIns="0" tIns="0" rIns="0" bIns="0">
            <a:spAutoFit/>
          </a:bodyPr>
          <a:lstStyle/>
          <a:p>
            <a:pPr>
              <a:defRPr sz="1100" b="1">
                <a:solidFill>
                  <a:srgbClr val="38BDF8"/>
                </a:solidFill>
              </a:defRPr>
            </a:pPr>
            <a:r>
              <a:t>RISK MANAGEMENT ARTIFACT</a:t>
            </a:r>
          </a:p>
          <a:p>
            <a:pPr>
              <a:spcBef>
                <a:spcPts val="400"/>
              </a:spcBef>
              <a:defRPr sz="2400" b="1">
                <a:solidFill>
                  <a:srgbClr val="F8FAFC"/>
                </a:solidFill>
              </a:defRPr>
            </a:pPr>
            <a:r>
              <a:t>ITPM: Formal Risk Register &amp; Mitigation Matrix</a:t>
            </a:r>
          </a:p>
        </p:txBody>
      </p:sp>
      <p:graphicFrame>
        <p:nvGraphicFramePr>
          <p:cNvPr id="4" name="Table 3"/>
          <p:cNvGraphicFramePr>
            <a:graphicFrameLocks noGrp="1"/>
          </p:cNvGraphicFramePr>
          <p:nvPr/>
        </p:nvGraphicFramePr>
        <p:xfrm>
          <a:off x="731520" y="1645920"/>
          <a:ext cx="10698480" cy="4480560"/>
        </p:xfrm>
        <a:graphic>
          <a:graphicData uri="http://schemas.openxmlformats.org/drawingml/2006/table">
            <a:tbl>
              <a:tblPr firstRow="1" bandRow="1">
                <a:tableStyleId>{5C22544A-7EE6-4342-B048-85BDC9FD1C3A}</a:tableStyleId>
              </a:tblPr>
              <a:tblGrid>
                <a:gridCol w="1097280"/>
                <a:gridCol w="2926080"/>
                <a:gridCol w="1188720"/>
                <a:gridCol w="1188720"/>
                <a:gridCol w="4297680"/>
              </a:tblGrid>
              <a:tr h="746760">
                <a:tc>
                  <a:txBody>
                    <a:bodyPr/>
                    <a:lstStyle/>
                    <a:p>
                      <a:pPr>
                        <a:defRPr b="1" sz="1100">
                          <a:solidFill>
                            <a:srgbClr val="38BDF8"/>
                          </a:solidFill>
                        </a:defRPr>
                      </a:pPr>
                      <a:r>
                        <a:t>Risk ID</a:t>
                      </a:r>
                    </a:p>
                  </a:txBody>
                  <a:tcPr>
                    <a:solidFill>
                      <a:srgbClr val="1E293B"/>
                    </a:solidFill>
                  </a:tcPr>
                </a:tc>
                <a:tc>
                  <a:txBody>
                    <a:bodyPr/>
                    <a:lstStyle/>
                    <a:p>
                      <a:pPr>
                        <a:defRPr b="1" sz="1100">
                          <a:solidFill>
                            <a:srgbClr val="38BDF8"/>
                          </a:solidFill>
                        </a:defRPr>
                      </a:pPr>
                      <a:r>
                        <a:t>Identified Risk Event</a:t>
                      </a:r>
                    </a:p>
                  </a:txBody>
                  <a:tcPr>
                    <a:solidFill>
                      <a:srgbClr val="1E293B"/>
                    </a:solidFill>
                  </a:tcPr>
                </a:tc>
                <a:tc>
                  <a:txBody>
                    <a:bodyPr/>
                    <a:lstStyle/>
                    <a:p>
                      <a:pPr>
                        <a:defRPr b="1" sz="1100">
                          <a:solidFill>
                            <a:srgbClr val="38BDF8"/>
                          </a:solidFill>
                        </a:defRPr>
                      </a:pPr>
                      <a:r>
                        <a:t>Severity</a:t>
                      </a:r>
                    </a:p>
                  </a:txBody>
                  <a:tcPr>
                    <a:solidFill>
                      <a:srgbClr val="1E293B"/>
                    </a:solidFill>
                  </a:tcPr>
                </a:tc>
                <a:tc>
                  <a:txBody>
                    <a:bodyPr/>
                    <a:lstStyle/>
                    <a:p>
                      <a:pPr>
                        <a:defRPr b="1" sz="1100">
                          <a:solidFill>
                            <a:srgbClr val="38BDF8"/>
                          </a:solidFill>
                        </a:defRPr>
                      </a:pPr>
                      <a:r>
                        <a:t>Likelihood</a:t>
                      </a:r>
                    </a:p>
                  </a:txBody>
                  <a:tcPr>
                    <a:solidFill>
                      <a:srgbClr val="1E293B"/>
                    </a:solidFill>
                  </a:tcPr>
                </a:tc>
                <a:tc>
                  <a:txBody>
                    <a:bodyPr/>
                    <a:lstStyle/>
                    <a:p>
                      <a:pPr>
                        <a:defRPr b="1" sz="1100">
                          <a:solidFill>
                            <a:srgbClr val="38BDF8"/>
                          </a:solidFill>
                        </a:defRPr>
                      </a:pPr>
                      <a:r>
                        <a:t>Mitigation Strategy Implemented</a:t>
                      </a:r>
                    </a:p>
                  </a:txBody>
                  <a:tcPr>
                    <a:solidFill>
                      <a:srgbClr val="1E293B"/>
                    </a:solidFill>
                  </a:tcPr>
                </a:tc>
              </a:tr>
              <a:tr h="746760">
                <a:tc>
                  <a:txBody>
                    <a:bodyPr/>
                    <a:lstStyle/>
                    <a:p>
                      <a:pPr>
                        <a:defRPr sz="1000" b="1">
                          <a:solidFill>
                            <a:srgbClr val="F8FAFC"/>
                          </a:solidFill>
                        </a:defRPr>
                      </a:pPr>
                      <a:r>
                        <a:t>R-01</a:t>
                      </a:r>
                    </a:p>
                  </a:txBody>
                  <a:tcPr>
                    <a:solidFill>
                      <a:srgbClr val="0F172A"/>
                    </a:solidFill>
                  </a:tcPr>
                </a:tc>
                <a:tc>
                  <a:txBody>
                    <a:bodyPr/>
                    <a:lstStyle/>
                    <a:p>
                      <a:pPr>
                        <a:defRPr sz="1000">
                          <a:solidFill>
                            <a:srgbClr val="94A3B8"/>
                          </a:solidFill>
                        </a:defRPr>
                      </a:pPr>
                      <a:r>
                        <a:t>Short Feedback Reviews (NLP Cold Start)</a:t>
                      </a:r>
                    </a:p>
                  </a:txBody>
                  <a:tcPr>
                    <a:solidFill>
                      <a:srgbClr val="0F172A"/>
                    </a:solidFill>
                  </a:tcPr>
                </a:tc>
                <a:tc>
                  <a:txBody>
                    <a:bodyPr/>
                    <a:lstStyle/>
                    <a:p>
                      <a:pPr>
                        <a:defRPr sz="1000">
                          <a:solidFill>
                            <a:srgbClr val="94A3B8"/>
                          </a:solidFill>
                        </a:defRPr>
                      </a:pPr>
                      <a:r>
                        <a:t>HIGH</a:t>
                      </a:r>
                    </a:p>
                  </a:txBody>
                  <a:tcPr>
                    <a:solidFill>
                      <a:srgbClr val="0F172A"/>
                    </a:solidFill>
                  </a:tcPr>
                </a:tc>
                <a:tc>
                  <a:txBody>
                    <a:bodyPr/>
                    <a:lstStyle/>
                    <a:p>
                      <a:pPr>
                        <a:defRPr sz="1000">
                          <a:solidFill>
                            <a:srgbClr val="94A3B8"/>
                          </a:solidFill>
                        </a:defRPr>
                      </a:pPr>
                      <a:r>
                        <a:t>MED</a:t>
                      </a:r>
                    </a:p>
                  </a:txBody>
                  <a:tcPr>
                    <a:solidFill>
                      <a:srgbClr val="0F172A"/>
                    </a:solidFill>
                  </a:tcPr>
                </a:tc>
                <a:tc>
                  <a:txBody>
                    <a:bodyPr/>
                    <a:lstStyle/>
                    <a:p>
                      <a:pPr>
                        <a:defRPr sz="1000">
                          <a:solidFill>
                            <a:srgbClr val="34D399"/>
                          </a:solidFill>
                        </a:defRPr>
                      </a:pPr>
                      <a:r>
                        <a:t>Dual-modal submission requires tagged skills tested alongside free-text narrative.</a:t>
                      </a:r>
                    </a:p>
                  </a:txBody>
                  <a:tcPr>
                    <a:solidFill>
                      <a:srgbClr val="0F172A"/>
                    </a:solidFill>
                  </a:tcPr>
                </a:tc>
              </a:tr>
              <a:tr h="746760">
                <a:tc>
                  <a:txBody>
                    <a:bodyPr/>
                    <a:lstStyle/>
                    <a:p>
                      <a:pPr>
                        <a:defRPr sz="1000" b="1">
                          <a:solidFill>
                            <a:srgbClr val="F8FAFC"/>
                          </a:solidFill>
                        </a:defRPr>
                      </a:pPr>
                      <a:r>
                        <a:t>R-02</a:t>
                      </a:r>
                    </a:p>
                  </a:txBody>
                  <a:tcPr>
                    <a:solidFill>
                      <a:srgbClr val="0F172A"/>
                    </a:solidFill>
                  </a:tcPr>
                </a:tc>
                <a:tc>
                  <a:txBody>
                    <a:bodyPr/>
                    <a:lstStyle/>
                    <a:p>
                      <a:pPr>
                        <a:defRPr sz="1000">
                          <a:solidFill>
                            <a:srgbClr val="94A3B8"/>
                          </a:solidFill>
                        </a:defRPr>
                      </a:pPr>
                      <a:r>
                        <a:t>Student Privacy Infringement</a:t>
                      </a:r>
                    </a:p>
                  </a:txBody>
                  <a:tcPr>
                    <a:solidFill>
                      <a:srgbClr val="0F172A"/>
                    </a:solidFill>
                  </a:tcPr>
                </a:tc>
                <a:tc>
                  <a:txBody>
                    <a:bodyPr/>
                    <a:lstStyle/>
                    <a:p>
                      <a:pPr>
                        <a:defRPr sz="1000">
                          <a:solidFill>
                            <a:srgbClr val="94A3B8"/>
                          </a:solidFill>
                        </a:defRPr>
                      </a:pPr>
                      <a:r>
                        <a:t>HIGH</a:t>
                      </a:r>
                    </a:p>
                  </a:txBody>
                  <a:tcPr>
                    <a:solidFill>
                      <a:srgbClr val="0F172A"/>
                    </a:solidFill>
                  </a:tcPr>
                </a:tc>
                <a:tc>
                  <a:txBody>
                    <a:bodyPr/>
                    <a:lstStyle/>
                    <a:p>
                      <a:pPr>
                        <a:defRPr sz="1000">
                          <a:solidFill>
                            <a:srgbClr val="94A3B8"/>
                          </a:solidFill>
                        </a:defRPr>
                      </a:pPr>
                      <a:r>
                        <a:t>LOW</a:t>
                      </a:r>
                    </a:p>
                  </a:txBody>
                  <a:tcPr>
                    <a:solidFill>
                      <a:srgbClr val="0F172A"/>
                    </a:solidFill>
                  </a:tcPr>
                </a:tc>
                <a:tc>
                  <a:txBody>
                    <a:bodyPr/>
                    <a:lstStyle/>
                    <a:p>
                      <a:pPr>
                        <a:defRPr sz="1000">
                          <a:solidFill>
                            <a:srgbClr val="34D399"/>
                          </a:solidFill>
                        </a:defRPr>
                      </a:pPr>
                      <a:r>
                        <a:t>Query-level anonymization; private profile data completely stripped in aggregate reports.</a:t>
                      </a:r>
                    </a:p>
                  </a:txBody>
                  <a:tcPr>
                    <a:solidFill>
                      <a:srgbClr val="0F172A"/>
                    </a:solidFill>
                  </a:tcPr>
                </a:tc>
              </a:tr>
              <a:tr h="746760">
                <a:tc>
                  <a:txBody>
                    <a:bodyPr/>
                    <a:lstStyle/>
                    <a:p>
                      <a:pPr>
                        <a:defRPr sz="1000" b="1">
                          <a:solidFill>
                            <a:srgbClr val="F8FAFC"/>
                          </a:solidFill>
                        </a:defRPr>
                      </a:pPr>
                      <a:r>
                        <a:t>R-03</a:t>
                      </a:r>
                    </a:p>
                  </a:txBody>
                  <a:tcPr>
                    <a:solidFill>
                      <a:srgbClr val="0F172A"/>
                    </a:solidFill>
                  </a:tcPr>
                </a:tc>
                <a:tc>
                  <a:txBody>
                    <a:bodyPr/>
                    <a:lstStyle/>
                    <a:p>
                      <a:pPr>
                        <a:defRPr sz="1000">
                          <a:solidFill>
                            <a:srgbClr val="94A3B8"/>
                          </a:solidFill>
                        </a:defRPr>
                      </a:pPr>
                      <a:r>
                        <a:t>Model Bias &amp; Unethical Predictions</a:t>
                      </a:r>
                    </a:p>
                  </a:txBody>
                  <a:tcPr>
                    <a:solidFill>
                      <a:srgbClr val="0F172A"/>
                    </a:solidFill>
                  </a:tcPr>
                </a:tc>
                <a:tc>
                  <a:txBody>
                    <a:bodyPr/>
                    <a:lstStyle/>
                    <a:p>
                      <a:pPr>
                        <a:defRPr sz="1000" b="1">
                          <a:solidFill>
                            <a:srgbClr val="FBBF24"/>
                          </a:solidFill>
                        </a:defRPr>
                      </a:pPr>
                      <a:r>
                        <a:t>CRITICAL</a:t>
                      </a:r>
                    </a:p>
                  </a:txBody>
                  <a:tcPr>
                    <a:solidFill>
                      <a:srgbClr val="0F172A"/>
                    </a:solidFill>
                  </a:tcPr>
                </a:tc>
                <a:tc>
                  <a:txBody>
                    <a:bodyPr/>
                    <a:lstStyle/>
                    <a:p>
                      <a:pPr>
                        <a:defRPr sz="1000">
                          <a:solidFill>
                            <a:srgbClr val="94A3B8"/>
                          </a:solidFill>
                        </a:defRPr>
                      </a:pPr>
                      <a:r>
                        <a:t>LOW</a:t>
                      </a:r>
                    </a:p>
                  </a:txBody>
                  <a:tcPr>
                    <a:solidFill>
                      <a:srgbClr val="0F172A"/>
                    </a:solidFill>
                  </a:tcPr>
                </a:tc>
                <a:tc>
                  <a:txBody>
                    <a:bodyPr/>
                    <a:lstStyle/>
                    <a:p>
                      <a:pPr>
                        <a:defRPr sz="1000">
                          <a:solidFill>
                            <a:srgbClr val="34D399"/>
                          </a:solidFill>
                        </a:defRPr>
                      </a:pPr>
                      <a:r>
                        <a:t>Strict exclusion of demographic attributes; designated as decision-support estimate.</a:t>
                      </a:r>
                    </a:p>
                  </a:txBody>
                  <a:tcPr>
                    <a:solidFill>
                      <a:srgbClr val="0F172A"/>
                    </a:solidFill>
                  </a:tcPr>
                </a:tc>
              </a:tr>
              <a:tr h="746760">
                <a:tc>
                  <a:txBody>
                    <a:bodyPr/>
                    <a:lstStyle/>
                    <a:p>
                      <a:pPr>
                        <a:defRPr sz="1000" b="1">
                          <a:solidFill>
                            <a:srgbClr val="F8FAFC"/>
                          </a:solidFill>
                        </a:defRPr>
                      </a:pPr>
                      <a:r>
                        <a:t>R-04</a:t>
                      </a:r>
                    </a:p>
                  </a:txBody>
                  <a:tcPr>
                    <a:solidFill>
                      <a:srgbClr val="0F172A"/>
                    </a:solidFill>
                  </a:tcPr>
                </a:tc>
                <a:tc>
                  <a:txBody>
                    <a:bodyPr/>
                    <a:lstStyle/>
                    <a:p>
                      <a:pPr>
                        <a:defRPr sz="1000">
                          <a:solidFill>
                            <a:srgbClr val="94A3B8"/>
                          </a:solidFill>
                        </a:defRPr>
                      </a:pPr>
                      <a:r>
                        <a:t>Scope Creep for Solo Engineer</a:t>
                      </a:r>
                    </a:p>
                  </a:txBody>
                  <a:tcPr>
                    <a:solidFill>
                      <a:srgbClr val="0F172A"/>
                    </a:solidFill>
                  </a:tcPr>
                </a:tc>
                <a:tc>
                  <a:txBody>
                    <a:bodyPr/>
                    <a:lstStyle/>
                    <a:p>
                      <a:pPr>
                        <a:defRPr sz="1000">
                          <a:solidFill>
                            <a:srgbClr val="94A3B8"/>
                          </a:solidFill>
                        </a:defRPr>
                      </a:pPr>
                      <a:r>
                        <a:t>HIGH</a:t>
                      </a:r>
                    </a:p>
                  </a:txBody>
                  <a:tcPr>
                    <a:solidFill>
                      <a:srgbClr val="0F172A"/>
                    </a:solidFill>
                  </a:tcPr>
                </a:tc>
                <a:tc>
                  <a:txBody>
                    <a:bodyPr/>
                    <a:lstStyle/>
                    <a:p>
                      <a:pPr>
                        <a:defRPr sz="1000">
                          <a:solidFill>
                            <a:srgbClr val="94A3B8"/>
                          </a:solidFill>
                        </a:defRPr>
                      </a:pPr>
                      <a:r>
                        <a:t>MED</a:t>
                      </a:r>
                    </a:p>
                  </a:txBody>
                  <a:tcPr>
                    <a:solidFill>
                      <a:srgbClr val="0F172A"/>
                    </a:solidFill>
                  </a:tcPr>
                </a:tc>
                <a:tc>
                  <a:txBody>
                    <a:bodyPr/>
                    <a:lstStyle/>
                    <a:p>
                      <a:pPr>
                        <a:defRPr sz="1000">
                          <a:solidFill>
                            <a:srgbClr val="34D399"/>
                          </a:solidFill>
                        </a:defRPr>
                      </a:pPr>
                      <a:r>
                        <a:t>Modular monolith architecture (FastAPI + Vite React) avoiding microservices bloat.</a:t>
                      </a:r>
                    </a:p>
                  </a:txBody>
                  <a:tcPr>
                    <a:solidFill>
                      <a:srgbClr val="0F172A"/>
                    </a:solidFill>
                  </a:tcPr>
                </a:tc>
              </a:tr>
              <a:tr h="746760">
                <a:tc>
                  <a:txBody>
                    <a:bodyPr/>
                    <a:lstStyle/>
                    <a:p>
                      <a:pPr>
                        <a:defRPr sz="1000" b="1">
                          <a:solidFill>
                            <a:srgbClr val="F8FAFC"/>
                          </a:solidFill>
                        </a:defRPr>
                      </a:pPr>
                      <a:r>
                        <a:t>R-05</a:t>
                      </a:r>
                    </a:p>
                  </a:txBody>
                  <a:tcPr>
                    <a:solidFill>
                      <a:srgbClr val="0F172A"/>
                    </a:solidFill>
                  </a:tcPr>
                </a:tc>
                <a:tc>
                  <a:txBody>
                    <a:bodyPr/>
                    <a:lstStyle/>
                    <a:p>
                      <a:pPr>
                        <a:defRPr sz="1000">
                          <a:solidFill>
                            <a:srgbClr val="94A3B8"/>
                          </a:solidFill>
                        </a:defRPr>
                      </a:pPr>
                      <a:r>
                        <a:t>Empty Database Demo Failure</a:t>
                      </a:r>
                    </a:p>
                  </a:txBody>
                  <a:tcPr>
                    <a:solidFill>
                      <a:srgbClr val="0F172A"/>
                    </a:solidFill>
                  </a:tcPr>
                </a:tc>
                <a:tc>
                  <a:txBody>
                    <a:bodyPr/>
                    <a:lstStyle/>
                    <a:p>
                      <a:pPr>
                        <a:defRPr sz="1000" b="1">
                          <a:solidFill>
                            <a:srgbClr val="FBBF24"/>
                          </a:solidFill>
                        </a:defRPr>
                      </a:pPr>
                      <a:r>
                        <a:t>CRITICAL</a:t>
                      </a:r>
                    </a:p>
                  </a:txBody>
                  <a:tcPr>
                    <a:solidFill>
                      <a:srgbClr val="0F172A"/>
                    </a:solidFill>
                  </a:tcPr>
                </a:tc>
                <a:tc>
                  <a:txBody>
                    <a:bodyPr/>
                    <a:lstStyle/>
                    <a:p>
                      <a:pPr>
                        <a:defRPr sz="1000">
                          <a:solidFill>
                            <a:srgbClr val="94A3B8"/>
                          </a:solidFill>
                        </a:defRPr>
                      </a:pPr>
                      <a:r>
                        <a:t>LOW</a:t>
                      </a:r>
                    </a:p>
                  </a:txBody>
                  <a:tcPr>
                    <a:solidFill>
                      <a:srgbClr val="0F172A"/>
                    </a:solidFill>
                  </a:tcPr>
                </a:tc>
                <a:tc>
                  <a:txBody>
                    <a:bodyPr/>
                    <a:lstStyle/>
                    <a:p>
                      <a:pPr>
                        <a:defRPr sz="1000">
                          <a:solidFill>
                            <a:srgbClr val="34D399"/>
                          </a:solidFill>
                        </a:defRPr>
                      </a:pPr>
                      <a:r>
                        <a:t>Built-in synthetic seeder generates 100 students, 25 companies, and 114 reviews on boot.</a:t>
                      </a:r>
                    </a:p>
                  </a:txBody>
                  <a:tcPr>
                    <a:solidFill>
                      <a:srgbClr val="0F172A"/>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lIns="0" tIns="0" rIns="0" bIns="0">
            <a:spAutoFit/>
          </a:bodyPr>
          <a:lstStyle/>
          <a:p>
            <a:pPr>
              <a:defRPr sz="1100" b="1">
                <a:solidFill>
                  <a:srgbClr val="38BDF8"/>
                </a:solidFill>
              </a:defRPr>
            </a:pPr>
            <a:r>
              <a:t>FEASIBILITY &amp; COST ESTIMATION</a:t>
            </a:r>
          </a:p>
          <a:p>
            <a:pPr>
              <a:spcBef>
                <a:spcPts val="400"/>
              </a:spcBef>
              <a:defRPr sz="2400" b="1">
                <a:solidFill>
                  <a:srgbClr val="F8FAFC"/>
                </a:solidFill>
              </a:defRPr>
            </a:pPr>
            <a:r>
              <a:t>ITPM: Resource Plan &amp; Zero-Budget Costing</a:t>
            </a:r>
          </a:p>
        </p:txBody>
      </p:sp>
      <p:sp>
        <p:nvSpPr>
          <p:cNvPr id="4" name="Rounded Rectangle 3"/>
          <p:cNvSpPr/>
          <p:nvPr/>
        </p:nvSpPr>
        <p:spPr>
          <a:xfrm>
            <a:off x="731520" y="1645920"/>
            <a:ext cx="26060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2331720" cy="4114800"/>
          </a:xfrm>
          <a:prstGeom prst="rect">
            <a:avLst/>
          </a:prstGeom>
          <a:noFill/>
        </p:spPr>
        <p:txBody>
          <a:bodyPr wrap="square">
            <a:spAutoFit/>
          </a:bodyPr>
          <a:lstStyle/>
          <a:p>
            <a:pPr>
              <a:defRPr sz="1400" b="1">
                <a:solidFill>
                  <a:srgbClr val="38BDF8"/>
                </a:solidFill>
              </a:defRPr>
            </a:pPr>
            <a:r>
              <a:t>Engineering Effort (Solo Labor)</a:t>
            </a:r>
          </a:p>
          <a:p>
            <a:pPr>
              <a:spcBef>
                <a:spcPts val="1000"/>
              </a:spcBef>
              <a:defRPr sz="1100">
                <a:solidFill>
                  <a:srgbClr val="94A3B8"/>
                </a:solidFill>
              </a:defRPr>
            </a:pPr>
            <a:r>
              <a:t>• 1 Solo Undergraduate Student Developer.</a:t>
            </a:r>
          </a:p>
          <a:p>
            <a:pPr>
              <a:spcBef>
                <a:spcPts val="1000"/>
              </a:spcBef>
              <a:defRPr sz="1100">
                <a:solidFill>
                  <a:srgbClr val="94A3B8"/>
                </a:solidFill>
              </a:defRPr>
            </a:pPr>
            <a:r>
              <a:t>• 20 productive hours per week over 14 weeks = 280 Engineering Hours.</a:t>
            </a:r>
          </a:p>
          <a:p>
            <a:pPr>
              <a:spcBef>
                <a:spcPts val="1000"/>
              </a:spcBef>
              <a:defRPr sz="1100">
                <a:solidFill>
                  <a:srgbClr val="94A3B8"/>
                </a:solidFill>
              </a:defRPr>
            </a:pPr>
            <a:r>
              <a:t>• Fully delivered within academic capstone curriculum ($0 direct cost).</a:t>
            </a:r>
          </a:p>
        </p:txBody>
      </p:sp>
      <p:sp>
        <p:nvSpPr>
          <p:cNvPr id="6" name="Rounded Rectangle 5"/>
          <p:cNvSpPr/>
          <p:nvPr/>
        </p:nvSpPr>
        <p:spPr>
          <a:xfrm>
            <a:off x="3429000" y="1645920"/>
            <a:ext cx="26060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828800"/>
            <a:ext cx="2331720" cy="4114800"/>
          </a:xfrm>
          <a:prstGeom prst="rect">
            <a:avLst/>
          </a:prstGeom>
          <a:noFill/>
        </p:spPr>
        <p:txBody>
          <a:bodyPr wrap="square">
            <a:spAutoFit/>
          </a:bodyPr>
          <a:lstStyle/>
          <a:p>
            <a:pPr>
              <a:defRPr sz="1400" b="1">
                <a:solidFill>
                  <a:srgbClr val="818CF8"/>
                </a:solidFill>
              </a:defRPr>
            </a:pPr>
            <a:r>
              <a:t>Hardware Compute Environment</a:t>
            </a:r>
          </a:p>
          <a:p>
            <a:pPr>
              <a:spcBef>
                <a:spcPts val="1000"/>
              </a:spcBef>
              <a:defRPr sz="1100">
                <a:solidFill>
                  <a:srgbClr val="94A3B8"/>
                </a:solidFill>
              </a:defRPr>
            </a:pPr>
            <a:r>
              <a:t>• Existing personal workstation (Windows 11, local compute).</a:t>
            </a:r>
          </a:p>
          <a:p>
            <a:pPr>
              <a:spcBef>
                <a:spcPts val="1000"/>
              </a:spcBef>
              <a:defRPr sz="1100">
                <a:solidFill>
                  <a:srgbClr val="94A3B8"/>
                </a:solidFill>
              </a:defRPr>
            </a:pPr>
            <a:r>
              <a:t>• Zero requirement for external cloud GPUs, server clusters, or paid hardware.</a:t>
            </a:r>
          </a:p>
          <a:p>
            <a:pPr>
              <a:spcBef>
                <a:spcPts val="1000"/>
              </a:spcBef>
              <a:defRPr sz="1100">
                <a:solidFill>
                  <a:srgbClr val="94A3B8"/>
                </a:solidFill>
              </a:defRPr>
            </a:pPr>
            <a:r>
              <a:t>• Strictly compliant with the prompt's zero IoT hardware constraint.</a:t>
            </a:r>
          </a:p>
        </p:txBody>
      </p:sp>
      <p:sp>
        <p:nvSpPr>
          <p:cNvPr id="8" name="Rounded Rectangle 7"/>
          <p:cNvSpPr/>
          <p:nvPr/>
        </p:nvSpPr>
        <p:spPr>
          <a:xfrm>
            <a:off x="6126480" y="1645920"/>
            <a:ext cx="26060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828800"/>
            <a:ext cx="2331720" cy="4114800"/>
          </a:xfrm>
          <a:prstGeom prst="rect">
            <a:avLst/>
          </a:prstGeom>
          <a:noFill/>
        </p:spPr>
        <p:txBody>
          <a:bodyPr wrap="square">
            <a:spAutoFit/>
          </a:bodyPr>
          <a:lstStyle/>
          <a:p>
            <a:pPr>
              <a:defRPr sz="1400" b="1">
                <a:solidFill>
                  <a:srgbClr val="34D399"/>
                </a:solidFill>
              </a:defRPr>
            </a:pPr>
            <a:r>
              <a:t>Open-Source Technology Stack</a:t>
            </a:r>
          </a:p>
          <a:p>
            <a:pPr>
              <a:spcBef>
                <a:spcPts val="1000"/>
              </a:spcBef>
              <a:defRPr sz="1100">
                <a:solidFill>
                  <a:srgbClr val="94A3B8"/>
                </a:solidFill>
              </a:defRPr>
            </a:pPr>
            <a:r>
              <a:t>• Backend: Python 3.14, FastAPI, SQLAlchemy 2.0, Pydantic V2 (MIT License).</a:t>
            </a:r>
          </a:p>
          <a:p>
            <a:pPr>
              <a:spcBef>
                <a:spcPts val="1000"/>
              </a:spcBef>
              <a:defRPr sz="1100">
                <a:solidFill>
                  <a:srgbClr val="94A3B8"/>
                </a:solidFill>
              </a:defRPr>
            </a:pPr>
            <a:r>
              <a:t>• Frontend: React 19, TypeScript, Vite 8, Tailwind CSS v4, Recharts (MIT License).</a:t>
            </a:r>
          </a:p>
          <a:p>
            <a:pPr>
              <a:spcBef>
                <a:spcPts val="1000"/>
              </a:spcBef>
              <a:defRPr sz="1100">
                <a:solidFill>
                  <a:srgbClr val="94A3B8"/>
                </a:solidFill>
              </a:defRPr>
            </a:pPr>
            <a:r>
              <a:t>• Persistence: PostgreSQL 16 / SQLite Engine (Zero licensing overhead).</a:t>
            </a:r>
          </a:p>
        </p:txBody>
      </p:sp>
      <p:sp>
        <p:nvSpPr>
          <p:cNvPr id="10" name="Rounded Rectangle 9"/>
          <p:cNvSpPr/>
          <p:nvPr/>
        </p:nvSpPr>
        <p:spPr>
          <a:xfrm>
            <a:off x="8823960" y="1645920"/>
            <a:ext cx="26060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0" y="1828800"/>
            <a:ext cx="2331720" cy="4114800"/>
          </a:xfrm>
          <a:prstGeom prst="rect">
            <a:avLst/>
          </a:prstGeom>
          <a:noFill/>
        </p:spPr>
        <p:txBody>
          <a:bodyPr wrap="square">
            <a:spAutoFit/>
          </a:bodyPr>
          <a:lstStyle/>
          <a:p>
            <a:pPr>
              <a:defRPr sz="1400" b="1">
                <a:solidFill>
                  <a:srgbClr val="FBBF24"/>
                </a:solidFill>
              </a:defRPr>
            </a:pPr>
            <a:r>
              <a:t>Total Financial Expenditure</a:t>
            </a:r>
          </a:p>
          <a:p>
            <a:pPr>
              <a:spcBef>
                <a:spcPts val="1000"/>
              </a:spcBef>
              <a:defRPr sz="1100">
                <a:solidFill>
                  <a:srgbClr val="94A3B8"/>
                </a:solidFill>
              </a:defRPr>
            </a:pPr>
            <a:r>
              <a:t>• Direct Capital Outlay: ₹0 / $0.</a:t>
            </a:r>
          </a:p>
          <a:p>
            <a:pPr>
              <a:spcBef>
                <a:spcPts val="1000"/>
              </a:spcBef>
              <a:defRPr sz="1100">
                <a:solidFill>
                  <a:srgbClr val="94A3B8"/>
                </a:solidFill>
              </a:defRPr>
            </a:pPr>
            <a:r>
              <a:t>• 100% reproducible on any standard university laptop or computer lab machine.</a:t>
            </a:r>
          </a:p>
          <a:p>
            <a:pPr>
              <a:spcBef>
                <a:spcPts val="1000"/>
              </a:spcBef>
              <a:defRPr sz="1100">
                <a:solidFill>
                  <a:srgbClr val="94A3B8"/>
                </a:solidFill>
              </a:defRPr>
            </a:pPr>
            <a:r>
              <a:t>• Sustainable and permanent academic institutional viability.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lIns="0" tIns="0" rIns="0" bIns="0">
            <a:spAutoFit/>
          </a:bodyPr>
          <a:lstStyle/>
          <a:p>
            <a:pPr>
              <a:defRPr sz="1100" b="1">
                <a:solidFill>
                  <a:srgbClr val="38BDF8"/>
                </a:solidFill>
              </a:defRPr>
            </a:pPr>
            <a:r>
              <a:t>UI/UX DESIGN SYSTEM</a:t>
            </a:r>
          </a:p>
          <a:p>
            <a:pPr>
              <a:spcBef>
                <a:spcPts val="400"/>
              </a:spcBef>
              <a:defRPr sz="2400" b="1">
                <a:solidFill>
                  <a:srgbClr val="F8FAFC"/>
                </a:solidFill>
              </a:defRPr>
            </a:pPr>
            <a:r>
              <a:t>User Experience &amp; Enterprise Dashboards</a:t>
            </a:r>
          </a:p>
        </p:txBody>
      </p:sp>
      <p:sp>
        <p:nvSpPr>
          <p:cNvPr id="4" name="Rounded Rectangle 3"/>
          <p:cNvSpPr/>
          <p:nvPr/>
        </p:nvSpPr>
        <p:spPr>
          <a:xfrm>
            <a:off x="731520" y="1645920"/>
            <a:ext cx="34747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108960" cy="4114800"/>
          </a:xfrm>
          <a:prstGeom prst="rect">
            <a:avLst/>
          </a:prstGeom>
          <a:noFill/>
        </p:spPr>
        <p:txBody>
          <a:bodyPr wrap="square">
            <a:spAutoFit/>
          </a:bodyPr>
          <a:lstStyle/>
          <a:p>
            <a:pPr>
              <a:defRPr sz="1600" b="1">
                <a:solidFill>
                  <a:srgbClr val="38BDF8"/>
                </a:solidFill>
              </a:defRPr>
            </a:pPr>
            <a:r>
              <a:t>Student Personal Workspace</a:t>
            </a:r>
          </a:p>
          <a:p>
            <a:pPr>
              <a:spcBef>
                <a:spcPts val="1000"/>
              </a:spcBef>
            </a:pPr>
            <a:r>
              <a:rPr b="1" sz="1100">
                <a:solidFill>
                  <a:srgbClr val="F8FAFC"/>
                </a:solidFill>
              </a:rPr>
              <a:t>• Placement Readiness Gauge:</a:t>
            </a:r>
            <a:r>
              <a:rPr sz="1100">
                <a:solidFill>
                  <a:srgbClr val="94A3B8"/>
                </a:solidFill>
              </a:rPr>
              <a:t> Dynamic score visualization (0-100%) with tier badges.</a:t>
            </a:r>
          </a:p>
          <a:p>
            <a:pPr>
              <a:spcBef>
                <a:spcPts val="1000"/>
              </a:spcBef>
            </a:pPr>
            <a:r>
              <a:rPr b="1" sz="1100">
                <a:solidFill>
                  <a:srgbClr val="F8FAFC"/>
                </a:solidFill>
              </a:rPr>
              <a:t>• Feature Contribution Breakdown:</a:t>
            </a:r>
            <a:r>
              <a:rPr sz="1100">
                <a:solidFill>
                  <a:srgbClr val="94A3B8"/>
                </a:solidFill>
              </a:rPr>
              <a:t> Explainable transparency for CGPA, skills, and projects.</a:t>
            </a:r>
          </a:p>
          <a:p>
            <a:pPr>
              <a:spcBef>
                <a:spcPts val="1000"/>
              </a:spcBef>
            </a:pPr>
            <a:r>
              <a:rPr b="1" sz="1100">
                <a:solidFill>
                  <a:srgbClr val="F8FAFC"/>
                </a:solidFill>
              </a:rPr>
              <a:t>• Skill-Gap Matrix:</a:t>
            </a:r>
            <a:r>
              <a:rPr sz="1100">
                <a:solidFill>
                  <a:srgbClr val="94A3B8"/>
                </a:solidFill>
              </a:rPr>
              <a:t> Color-coded matched competencies vs. missing requirements.</a:t>
            </a:r>
          </a:p>
          <a:p>
            <a:pPr>
              <a:spcBef>
                <a:spcPts val="1000"/>
              </a:spcBef>
            </a:pPr>
            <a:r>
              <a:rPr b="1" sz="1100">
                <a:solidFill>
                  <a:srgbClr val="F8FAFC"/>
                </a:solidFill>
              </a:rPr>
              <a:t>• Review Submission Wizard:</a:t>
            </a:r>
            <a:r>
              <a:rPr sz="1100">
                <a:solidFill>
                  <a:srgbClr val="94A3B8"/>
                </a:solidFill>
              </a:rPr>
              <a:t> Dynamic rounds builder with live NLP feedback.</a:t>
            </a:r>
          </a:p>
        </p:txBody>
      </p:sp>
      <p:sp>
        <p:nvSpPr>
          <p:cNvPr id="6" name="Rounded Rectangle 5"/>
          <p:cNvSpPr/>
          <p:nvPr/>
        </p:nvSpPr>
        <p:spPr>
          <a:xfrm>
            <a:off x="4343400" y="1645920"/>
            <a:ext cx="34747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828800"/>
            <a:ext cx="3108960" cy="4114800"/>
          </a:xfrm>
          <a:prstGeom prst="rect">
            <a:avLst/>
          </a:prstGeom>
          <a:noFill/>
        </p:spPr>
        <p:txBody>
          <a:bodyPr wrap="square">
            <a:spAutoFit/>
          </a:bodyPr>
          <a:lstStyle/>
          <a:p>
            <a:pPr>
              <a:defRPr sz="1600" b="1">
                <a:solidFill>
                  <a:srgbClr val="818CF8"/>
                </a:solidFill>
              </a:defRPr>
            </a:pPr>
            <a:r>
              <a:t>Placement Cell Directorate (TPO)</a:t>
            </a:r>
          </a:p>
          <a:p>
            <a:pPr>
              <a:spcBef>
                <a:spcPts val="1000"/>
              </a:spcBef>
            </a:pPr>
            <a:r>
              <a:rPr b="1" sz="1100">
                <a:solidFill>
                  <a:srgbClr val="F8FAFC"/>
                </a:solidFill>
              </a:rPr>
              <a:t>• Institutional Command Center:</a:t>
            </a:r>
            <a:r>
              <a:rPr sz="1100">
                <a:solidFill>
                  <a:srgbClr val="94A3B8"/>
                </a:solidFill>
              </a:rPr>
              <a:t> Macro KPIs on student conversion and partner drives.</a:t>
            </a:r>
          </a:p>
          <a:p>
            <a:pPr>
              <a:spcBef>
                <a:spcPts val="1000"/>
              </a:spcBef>
            </a:pPr>
            <a:r>
              <a:rPr b="1" sz="1100">
                <a:solidFill>
                  <a:srgbClr val="F8FAFC"/>
                </a:solidFill>
              </a:rPr>
              <a:t>• Experience Moderation Queue:</a:t>
            </a:r>
            <a:r>
              <a:rPr sz="1100">
                <a:solidFill>
                  <a:srgbClr val="94A3B8"/>
                </a:solidFill>
              </a:rPr>
              <a:t> One-click verification or rejection with moderator notes.</a:t>
            </a:r>
          </a:p>
          <a:p>
            <a:pPr>
              <a:spcBef>
                <a:spcPts val="1000"/>
              </a:spcBef>
            </a:pPr>
            <a:r>
              <a:rPr b="1" sz="1100">
                <a:solidFill>
                  <a:srgbClr val="F8FAFC"/>
                </a:solidFill>
              </a:rPr>
              <a:t>• Corporate Directory:</a:t>
            </a:r>
            <a:r>
              <a:rPr sz="1100">
                <a:solidFill>
                  <a:srgbClr val="94A3B8"/>
                </a:solidFill>
              </a:rPr>
              <a:t> Compensation brackets (LPA) and deep-dive analytics modal.</a:t>
            </a:r>
          </a:p>
          <a:p>
            <a:pPr>
              <a:spcBef>
                <a:spcPts val="1000"/>
              </a:spcBef>
            </a:pPr>
            <a:r>
              <a:rPr b="1" sz="1100">
                <a:solidFill>
                  <a:srgbClr val="F8FAFC"/>
                </a:solidFill>
              </a:rPr>
              <a:t>• Campus Drives Scheduler:</a:t>
            </a:r>
            <a:r>
              <a:rPr sz="1100">
                <a:solidFill>
                  <a:srgbClr val="94A3B8"/>
                </a:solidFill>
              </a:rPr>
              <a:t> Eligibility CGPA thresholds and applicant tracking.</a:t>
            </a:r>
          </a:p>
        </p:txBody>
      </p:sp>
      <p:sp>
        <p:nvSpPr>
          <p:cNvPr id="8" name="Rounded Rectangle 7"/>
          <p:cNvSpPr/>
          <p:nvPr/>
        </p:nvSpPr>
        <p:spPr>
          <a:xfrm>
            <a:off x="7955280" y="1645920"/>
            <a:ext cx="34747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828800"/>
            <a:ext cx="3108960" cy="4114800"/>
          </a:xfrm>
          <a:prstGeom prst="rect">
            <a:avLst/>
          </a:prstGeom>
          <a:noFill/>
        </p:spPr>
        <p:txBody>
          <a:bodyPr wrap="square">
            <a:spAutoFit/>
          </a:bodyPr>
          <a:lstStyle/>
          <a:p>
            <a:pPr>
              <a:defRPr sz="1600" b="1">
                <a:solidFill>
                  <a:srgbClr val="34D399"/>
                </a:solidFill>
              </a:defRPr>
            </a:pPr>
            <a:r>
              <a:t>Analytics &amp; Administrative Suite</a:t>
            </a:r>
          </a:p>
          <a:p>
            <a:pPr>
              <a:spcBef>
                <a:spcPts val="1000"/>
              </a:spcBef>
            </a:pPr>
            <a:r>
              <a:rPr b="1" sz="1100">
                <a:solidFill>
                  <a:srgbClr val="F8FAFC"/>
                </a:solidFill>
              </a:rPr>
              <a:t>• Sentiment Polarity Charts:</a:t>
            </a:r>
            <a:r>
              <a:rPr sz="1100">
                <a:solidFill>
                  <a:srgbClr val="94A3B8"/>
                </a:solidFill>
              </a:rPr>
              <a:t> Interactive Recharts pie breakdown across verified reviews.</a:t>
            </a:r>
          </a:p>
          <a:p>
            <a:pPr>
              <a:spcBef>
                <a:spcPts val="1000"/>
              </a:spcBef>
            </a:pPr>
            <a:r>
              <a:rPr b="1" sz="1100">
                <a:solidFill>
                  <a:srgbClr val="F8FAFC"/>
                </a:solidFill>
              </a:rPr>
              <a:t>• Top Demanded Skills:</a:t>
            </a:r>
            <a:r>
              <a:rPr sz="1100">
                <a:solidFill>
                  <a:srgbClr val="94A3B8"/>
                </a:solidFill>
              </a:rPr>
              <a:t> Horizontal bar chart indexing recruiter skill frequency.</a:t>
            </a:r>
          </a:p>
          <a:p>
            <a:pPr>
              <a:spcBef>
                <a:spcPts val="1000"/>
              </a:spcBef>
            </a:pPr>
            <a:r>
              <a:rPr b="1" sz="1100">
                <a:solidFill>
                  <a:srgbClr val="F8FAFC"/>
                </a:solidFill>
              </a:rPr>
              <a:t>• Department Comparison:</a:t>
            </a:r>
            <a:r>
              <a:rPr sz="1100">
                <a:solidFill>
                  <a:srgbClr val="94A3B8"/>
                </a:solidFill>
              </a:rPr>
              <a:t> Faculty cohort analytics comparing CSE, CSBS, AIML, and IT.</a:t>
            </a:r>
          </a:p>
          <a:p>
            <a:pPr>
              <a:spcBef>
                <a:spcPts val="1000"/>
              </a:spcBef>
            </a:pPr>
            <a:r>
              <a:rPr b="1" sz="1100">
                <a:solidFill>
                  <a:srgbClr val="F8FAFC"/>
                </a:solidFill>
              </a:rPr>
              <a:t>• Immutable Audit Trail:</a:t>
            </a:r>
            <a:r>
              <a:rPr sz="1100">
                <a:solidFill>
                  <a:srgbClr val="94A3B8"/>
                </a:solidFill>
              </a:rPr>
              <a:t> Searchable log table recording user actions and security events.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lIns="0" tIns="0" rIns="0" bIns="0">
            <a:spAutoFit/>
          </a:bodyPr>
          <a:lstStyle/>
          <a:p>
            <a:pPr>
              <a:defRPr sz="1100" b="1">
                <a:solidFill>
                  <a:srgbClr val="38BDF8"/>
                </a:solidFill>
              </a:defRPr>
            </a:pPr>
            <a:r>
              <a:t>TESTING &amp; VALIDATION</a:t>
            </a:r>
          </a:p>
          <a:p>
            <a:pPr>
              <a:spcBef>
                <a:spcPts val="400"/>
              </a:spcBef>
              <a:defRPr sz="2400" b="1">
                <a:solidFill>
                  <a:srgbClr val="F8FAFC"/>
                </a:solidFill>
              </a:defRPr>
            </a:pPr>
            <a:r>
              <a:t>Quality Assurance &amp; Automated Verification</a:t>
            </a:r>
          </a:p>
        </p:txBody>
      </p:sp>
      <p:sp>
        <p:nvSpPr>
          <p:cNvPr id="4" name="Rounded Rectangle 3"/>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114800"/>
          </a:xfrm>
          <a:prstGeom prst="rect">
            <a:avLst/>
          </a:prstGeom>
          <a:noFill/>
        </p:spPr>
        <p:txBody>
          <a:bodyPr wrap="square">
            <a:spAutoFit/>
          </a:bodyPr>
          <a:lstStyle/>
          <a:p>
            <a:pPr>
              <a:defRPr sz="1800" b="1">
                <a:solidFill>
                  <a:srgbClr val="34D399"/>
                </a:solidFill>
              </a:defRPr>
            </a:pPr>
            <a:r>
              <a:t>Automated Pytest Suite (100% Pass)</a:t>
            </a:r>
          </a:p>
          <a:p>
            <a:pPr>
              <a:spcBef>
                <a:spcPts val="1000"/>
              </a:spcBef>
            </a:pPr>
            <a:r>
              <a:rPr b="1" sz="1100">
                <a:solidFill>
                  <a:srgbClr val="F8FAFC"/>
                </a:solidFill>
              </a:rPr>
              <a:t>✓ test_health_check: </a:t>
            </a:r>
            <a:r>
              <a:rPr sz="1100">
                <a:solidFill>
                  <a:srgbClr val="94A3B8"/>
                </a:solidFill>
              </a:rPr>
              <a:t>Verifies operational status of all ES, NLP, and readiness subsystems.</a:t>
            </a:r>
          </a:p>
          <a:p>
            <a:pPr>
              <a:spcBef>
                <a:spcPts val="1000"/>
              </a:spcBef>
            </a:pPr>
            <a:r>
              <a:rPr b="1" sz="1100">
                <a:solidFill>
                  <a:srgbClr val="F8FAFC"/>
                </a:solidFill>
              </a:rPr>
              <a:t>✓ test_student_login_and_profile: </a:t>
            </a:r>
            <a:r>
              <a:rPr sz="1100">
                <a:solidFill>
                  <a:srgbClr val="94A3B8"/>
                </a:solidFill>
              </a:rPr>
              <a:t>Validates JWT token issuance, protected profile lookup, and readiness calculation.</a:t>
            </a:r>
          </a:p>
          <a:p>
            <a:pPr>
              <a:spcBef>
                <a:spcPts val="1000"/>
              </a:spcBef>
            </a:pPr>
            <a:r>
              <a:rPr b="1" sz="1100">
                <a:solidFill>
                  <a:srgbClr val="F8FAFC"/>
                </a:solidFill>
              </a:rPr>
              <a:t>✓ test_analytics_overview: </a:t>
            </a:r>
            <a:r>
              <a:rPr sz="1100">
                <a:solidFill>
                  <a:srgbClr val="94A3B8"/>
                </a:solidFill>
              </a:rPr>
              <a:t>Ensures accurate computation of college KPIs, sentiment distributions, and department metrics.</a:t>
            </a:r>
          </a:p>
          <a:p>
            <a:pPr>
              <a:spcBef>
                <a:spcPts val="1000"/>
              </a:spcBef>
            </a:pPr>
            <a:r>
              <a:rPr b="1" sz="1100">
                <a:solidFill>
                  <a:srgbClr val="F8FAFC"/>
                </a:solidFill>
              </a:rPr>
              <a:t>✓ test_experience_submission_and_nlp: </a:t>
            </a:r>
            <a:r>
              <a:rPr sz="1100">
                <a:solidFill>
                  <a:srgbClr val="94A3B8"/>
                </a:solidFill>
              </a:rPr>
              <a:t>Submits narrative feedback and asserts automated NLP extraction of sentiment labels and skill entities.</a:t>
            </a:r>
          </a:p>
        </p:txBody>
      </p:sp>
      <p:sp>
        <p:nvSpPr>
          <p:cNvPr id="6" name="Rounded Rectangle 5"/>
          <p:cNvSpPr/>
          <p:nvPr/>
        </p:nvSpPr>
        <p:spPr>
          <a:xfrm>
            <a:off x="6217920" y="1645920"/>
            <a:ext cx="52120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114800"/>
          </a:xfrm>
          <a:prstGeom prst="rect">
            <a:avLst/>
          </a:prstGeom>
          <a:noFill/>
        </p:spPr>
        <p:txBody>
          <a:bodyPr wrap="square">
            <a:spAutoFit/>
          </a:bodyPr>
          <a:lstStyle/>
          <a:p>
            <a:pPr>
              <a:defRPr sz="1800" b="1">
                <a:solidFill>
                  <a:srgbClr val="38BDF8"/>
                </a:solidFill>
              </a:defRPr>
            </a:pPr>
            <a:r>
              <a:t>Verification Metrics &amp; Data Scale</a:t>
            </a:r>
          </a:p>
          <a:p>
            <a:pPr>
              <a:spcBef>
                <a:spcPts val="1000"/>
              </a:spcBef>
            </a:pPr>
            <a:r>
              <a:rPr b="1" sz="1100">
                <a:solidFill>
                  <a:srgbClr val="F8FAFC"/>
                </a:solidFill>
              </a:rPr>
              <a:t>• Pre-Seeded Synthetic Cohort: </a:t>
            </a:r>
            <a:r>
              <a:rPr sz="1100">
                <a:solidFill>
                  <a:srgbClr val="94A3B8"/>
                </a:solidFill>
              </a:rPr>
              <a:t>100 students across 4 engineering departments (CSE, CSBS, AIML, IT).</a:t>
            </a:r>
          </a:p>
          <a:p>
            <a:pPr>
              <a:spcBef>
                <a:spcPts val="1000"/>
              </a:spcBef>
            </a:pPr>
            <a:r>
              <a:rPr b="1" sz="1100">
                <a:solidFill>
                  <a:srgbClr val="F8FAFC"/>
                </a:solidFill>
              </a:rPr>
              <a:t>• Recruiter Network: </a:t>
            </a:r>
            <a:r>
              <a:rPr sz="1100">
                <a:solidFill>
                  <a:srgbClr val="94A3B8"/>
                </a:solidFill>
              </a:rPr>
              <a:t>25 companies (Google, Microsoft, Amazon, Razorpay, TCS, etc.) with 45+ job roles.</a:t>
            </a:r>
          </a:p>
          <a:p>
            <a:pPr>
              <a:spcBef>
                <a:spcPts val="1000"/>
              </a:spcBef>
            </a:pPr>
            <a:r>
              <a:rPr b="1" sz="1100">
                <a:solidFill>
                  <a:srgbClr val="F8FAFC"/>
                </a:solidFill>
              </a:rPr>
              <a:t>• Campus Drives: </a:t>
            </a:r>
            <a:r>
              <a:rPr sz="1100">
                <a:solidFill>
                  <a:srgbClr val="94A3B8"/>
                </a:solidFill>
              </a:rPr>
              <a:t>18 active and completed placement drives with tracked applicant statuses.</a:t>
            </a:r>
          </a:p>
          <a:p>
            <a:pPr>
              <a:spcBef>
                <a:spcPts val="1000"/>
              </a:spcBef>
            </a:pPr>
            <a:r>
              <a:rPr b="1" sz="1100">
                <a:solidFill>
                  <a:srgbClr val="F8FAFC"/>
                </a:solidFill>
              </a:rPr>
              <a:t>• Verified Experiences Knowledge Base: </a:t>
            </a:r>
            <a:r>
              <a:rPr sz="1100">
                <a:solidFill>
                  <a:srgbClr val="94A3B8"/>
                </a:solidFill>
              </a:rPr>
              <a:t>114 placement experiences fully analyzed with sentiment, difficulty, and skill tags.</a:t>
            </a:r>
          </a:p>
          <a:p>
            <a:pPr>
              <a:spcBef>
                <a:spcPts val="1000"/>
              </a:spcBef>
            </a:pPr>
            <a:r>
              <a:rPr b="1" sz="1100">
                <a:solidFill>
                  <a:srgbClr val="F8FAFC"/>
                </a:solidFill>
              </a:rPr>
              <a:t>• Frontend Production Bundle: </a:t>
            </a:r>
            <a:r>
              <a:rPr sz="1100">
                <a:solidFill>
                  <a:srgbClr val="94A3B8"/>
                </a:solidFill>
              </a:rPr>
              <a:t>Vite build transforms 2,541 modules in 1.41 seconds with 0 TypeScript or lint errors.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lIns="0" tIns="0" rIns="0" bIns="0">
            <a:spAutoFit/>
          </a:bodyPr>
          <a:lstStyle/>
          <a:p>
            <a:pPr>
              <a:defRPr sz="1100" b="1">
                <a:solidFill>
                  <a:srgbClr val="38BDF8"/>
                </a:solidFill>
              </a:defRPr>
            </a:pPr>
            <a:r>
              <a:t>SYSTEM EXTENSIBILITY</a:t>
            </a:r>
          </a:p>
          <a:p>
            <a:pPr>
              <a:spcBef>
                <a:spcPts val="400"/>
              </a:spcBef>
              <a:defRPr sz="2400" b="1">
                <a:solidFill>
                  <a:srgbClr val="F8FAFC"/>
                </a:solidFill>
              </a:defRPr>
            </a:pPr>
            <a:r>
              <a:t>Project Limitations &amp; Future Scope</a:t>
            </a:r>
          </a:p>
        </p:txBody>
      </p:sp>
      <p:sp>
        <p:nvSpPr>
          <p:cNvPr id="4" name="Rounded Rectangle 3"/>
          <p:cNvSpPr/>
          <p:nvPr/>
        </p:nvSpPr>
        <p:spPr>
          <a:xfrm>
            <a:off x="731520" y="1645920"/>
            <a:ext cx="53035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4754880" cy="4114800"/>
          </a:xfrm>
          <a:prstGeom prst="rect">
            <a:avLst/>
          </a:prstGeom>
          <a:noFill/>
        </p:spPr>
        <p:txBody>
          <a:bodyPr wrap="square">
            <a:spAutoFit/>
          </a:bodyPr>
          <a:lstStyle/>
          <a:p>
            <a:pPr>
              <a:defRPr sz="1800" b="1">
                <a:solidFill>
                  <a:srgbClr val="FBBF24"/>
                </a:solidFill>
              </a:defRPr>
            </a:pPr>
            <a:r>
              <a:t>Current System Limitations</a:t>
            </a:r>
          </a:p>
          <a:p>
            <a:pPr>
              <a:spcBef>
                <a:spcPts val="1200"/>
              </a:spcBef>
            </a:pPr>
            <a:r>
              <a:rPr b="1" sz="1200">
                <a:solidFill>
                  <a:srgbClr val="F8FAFC"/>
                </a:solidFill>
              </a:rPr>
              <a:t>• Cold Start on Novel Skills: </a:t>
            </a:r>
            <a:r>
              <a:rPr sz="1100">
                <a:solidFill>
                  <a:srgbClr val="94A3B8"/>
                </a:solidFill>
              </a:rPr>
              <a:t>Newly invented frameworks require updating the central skill dictionary.</a:t>
            </a:r>
          </a:p>
          <a:p>
            <a:pPr>
              <a:spcBef>
                <a:spcPts val="1200"/>
              </a:spcBef>
            </a:pPr>
            <a:r>
              <a:rPr b="1" sz="1200">
                <a:solidFill>
                  <a:srgbClr val="F8FAFC"/>
                </a:solidFill>
              </a:rPr>
              <a:t>• English Language NLP Corpus: </a:t>
            </a:r>
            <a:r>
              <a:rPr sz="1100">
                <a:solidFill>
                  <a:srgbClr val="94A3B8"/>
                </a:solidFill>
              </a:rPr>
              <a:t>Current text preprocessing is optimized for English interview reviews.</a:t>
            </a:r>
          </a:p>
          <a:p>
            <a:pPr>
              <a:spcBef>
                <a:spcPts val="1200"/>
              </a:spcBef>
            </a:pPr>
            <a:r>
              <a:rPr b="1" sz="1200">
                <a:solidFill>
                  <a:srgbClr val="F8FAFC"/>
                </a:solidFill>
              </a:rPr>
              <a:t>• Self-Assessed Skill Proficiency: </a:t>
            </a:r>
            <a:r>
              <a:rPr sz="1100">
                <a:solidFill>
                  <a:srgbClr val="94A3B8"/>
                </a:solidFill>
              </a:rPr>
              <a:t>Student skills are self-reported rather than verified by live coding tests.</a:t>
            </a:r>
          </a:p>
        </p:txBody>
      </p:sp>
      <p:sp>
        <p:nvSpPr>
          <p:cNvPr id="6" name="Rounded Rectangle 5"/>
          <p:cNvSpPr/>
          <p:nvPr/>
        </p:nvSpPr>
        <p:spPr>
          <a:xfrm>
            <a:off x="6172200" y="1645920"/>
            <a:ext cx="53035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754880" cy="4114800"/>
          </a:xfrm>
          <a:prstGeom prst="rect">
            <a:avLst/>
          </a:prstGeom>
          <a:noFill/>
        </p:spPr>
        <p:txBody>
          <a:bodyPr wrap="square">
            <a:spAutoFit/>
          </a:bodyPr>
          <a:lstStyle/>
          <a:p>
            <a:pPr>
              <a:defRPr sz="1800" b="1">
                <a:solidFill>
                  <a:srgbClr val="38BDF8"/>
                </a:solidFill>
              </a:defRPr>
            </a:pPr>
            <a:r>
              <a:t>Future Roadmap &amp; Extensions</a:t>
            </a:r>
          </a:p>
          <a:p>
            <a:pPr>
              <a:spcBef>
                <a:spcPts val="1200"/>
              </a:spcBef>
            </a:pPr>
            <a:r>
              <a:rPr b="1" sz="1200">
                <a:solidFill>
                  <a:srgbClr val="F8FAFC"/>
                </a:solidFill>
              </a:rPr>
              <a:t>• Automated Resume PDF Parsing: </a:t>
            </a:r>
            <a:r>
              <a:rPr sz="1100">
                <a:solidFill>
                  <a:srgbClr val="94A3B8"/>
                </a:solidFill>
              </a:rPr>
              <a:t>Extract candidate skills and projects automatically via PDF OCR ingestion.</a:t>
            </a:r>
          </a:p>
          <a:p>
            <a:pPr>
              <a:spcBef>
                <a:spcPts val="1200"/>
              </a:spcBef>
            </a:pPr>
            <a:r>
              <a:rPr b="1" sz="1200">
                <a:solidFill>
                  <a:srgbClr val="F8FAFC"/>
                </a:solidFill>
              </a:rPr>
              <a:t>• AI Mock Interview Simulator: </a:t>
            </a:r>
            <a:r>
              <a:rPr sz="1100">
                <a:solidFill>
                  <a:srgbClr val="94A3B8"/>
                </a:solidFill>
              </a:rPr>
              <a:t>Interactive chat assessment generating real-time performance feedback.</a:t>
            </a:r>
          </a:p>
          <a:p>
            <a:pPr>
              <a:spcBef>
                <a:spcPts val="1200"/>
              </a:spcBef>
            </a:pPr>
            <a:r>
              <a:rPr b="1" sz="1200">
                <a:solidFill>
                  <a:srgbClr val="F8FAFC"/>
                </a:solidFill>
              </a:rPr>
              <a:t>• Multi-College Federation: </a:t>
            </a:r>
            <a:r>
              <a:rPr sz="1100">
                <a:solidFill>
                  <a:srgbClr val="94A3B8"/>
                </a:solidFill>
              </a:rPr>
              <a:t>Multi-tenant cloud architecture aggregating recruitment data across university clusters.</a:t>
            </a:r>
          </a:p>
          <a:p>
            <a:pPr>
              <a:spcBef>
                <a:spcPts val="1200"/>
              </a:spcBef>
            </a:pPr>
            <a:r>
              <a:rPr b="1" sz="1200">
                <a:solidFill>
                  <a:srgbClr val="F8FAFC"/>
                </a:solidFill>
              </a:rPr>
              <a:t>• Live Alumni Mentorship Matching: </a:t>
            </a:r>
            <a:r>
              <a:rPr sz="1100">
                <a:solidFill>
                  <a:srgbClr val="94A3B8"/>
                </a:solidFill>
              </a:rPr>
              <a:t>Pairing junior students with placed alumni based on shared skill gap targets.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lIns="0" tIns="0" rIns="0" bIns="0">
            <a:spAutoFit/>
          </a:bodyPr>
          <a:lstStyle/>
          <a:p>
            <a:pPr>
              <a:defRPr sz="1100" b="1">
                <a:solidFill>
                  <a:srgbClr val="38BDF8"/>
                </a:solidFill>
              </a:defRPr>
            </a:pPr>
            <a:r>
              <a:t>VIVA VOCE CONCLUSION</a:t>
            </a:r>
          </a:p>
          <a:p>
            <a:pPr>
              <a:spcBef>
                <a:spcPts val="400"/>
              </a:spcBef>
              <a:defRPr sz="2400" b="1">
                <a:solidFill>
                  <a:srgbClr val="F8FAFC"/>
                </a:solidFill>
              </a:defRPr>
            </a:pPr>
            <a:r>
              <a:t>Conclusion &amp; Academic Defense Summary</a:t>
            </a:r>
          </a:p>
        </p:txBody>
      </p:sp>
      <p:sp>
        <p:nvSpPr>
          <p:cNvPr id="4" name="Rounded Rectangle 3"/>
          <p:cNvSpPr/>
          <p:nvPr/>
        </p:nvSpPr>
        <p:spPr>
          <a:xfrm>
            <a:off x="731520" y="1645920"/>
            <a:ext cx="106984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10149840" cy="4114800"/>
          </a:xfrm>
          <a:prstGeom prst="rect">
            <a:avLst/>
          </a:prstGeom>
          <a:noFill/>
        </p:spPr>
        <p:txBody>
          <a:bodyPr wrap="square">
            <a:spAutoFit/>
          </a:bodyPr>
          <a:lstStyle/>
          <a:p>
            <a:pPr>
              <a:defRPr sz="1800" b="1">
                <a:solidFill>
                  <a:srgbClr val="34D399"/>
                </a:solidFill>
              </a:defRPr>
            </a:pPr>
            <a:r>
              <a:t>Key Academic Contributions of Placell</a:t>
            </a:r>
          </a:p>
          <a:p>
            <a:pPr>
              <a:spcBef>
                <a:spcPts val="1000"/>
              </a:spcBef>
            </a:pPr>
            <a:r>
              <a:rPr b="1" sz="1200">
                <a:solidFill>
                  <a:srgbClr val="F8FAFC"/>
                </a:solidFill>
              </a:rPr>
              <a:t>✓ Full Curriculum Alignment: </a:t>
            </a:r>
            <a:r>
              <a:rPr sz="1200">
                <a:solidFill>
                  <a:srgbClr val="94A3B8"/>
                </a:solidFill>
              </a:rPr>
              <a:t>Successfully maps to Enterprise Systems (RBAC, workflows, database, audit), ITPM (Agile sprints, WBS, risks, costing), and ASTMA (applied NLP, supervised ML, explainable AI).</a:t>
            </a:r>
          </a:p>
          <a:p>
            <a:pPr>
              <a:spcBef>
                <a:spcPts val="1000"/>
              </a:spcBef>
            </a:pPr>
            <a:r>
              <a:rPr b="1" sz="1200">
                <a:solidFill>
                  <a:srgbClr val="F8FAFC"/>
                </a:solidFill>
              </a:rPr>
              <a:t>✓ 100% Software-Only Execution: </a:t>
            </a:r>
            <a:r>
              <a:rPr sz="1200">
                <a:solidFill>
                  <a:srgbClr val="94A3B8"/>
                </a:solidFill>
              </a:rPr>
              <a:t>Achieved comprehensive career decision-support without requiring mandatory IoT sensors or hardware simulators.</a:t>
            </a:r>
          </a:p>
          <a:p>
            <a:pPr>
              <a:spcBef>
                <a:spcPts val="1000"/>
              </a:spcBef>
            </a:pPr>
            <a:r>
              <a:rPr b="1" sz="1200">
                <a:solidFill>
                  <a:srgbClr val="F8FAFC"/>
                </a:solidFill>
              </a:rPr>
              <a:t>✓ High-Impact Institutional Value: </a:t>
            </a:r>
            <a:r>
              <a:rPr sz="1200">
                <a:solidFill>
                  <a:srgbClr val="94A3B8"/>
                </a:solidFill>
              </a:rPr>
              <a:t>Solves the real-world higher education dilemma of lost placement feedback, transforming qualitative data into actionable student recommendations.</a:t>
            </a:r>
          </a:p>
          <a:p>
            <a:pPr>
              <a:spcBef>
                <a:spcPts val="1000"/>
              </a:spcBef>
            </a:pPr>
            <a:r>
              <a:rPr b="1" sz="1200">
                <a:solidFill>
                  <a:srgbClr val="F8FAFC"/>
                </a:solidFill>
              </a:rPr>
              <a:t>✓ Production-Grade Codebase: </a:t>
            </a:r>
            <a:r>
              <a:rPr sz="1200">
                <a:solidFill>
                  <a:srgbClr val="94A3B8"/>
                </a:solidFill>
              </a:rPr>
              <a:t>Built with modern standards (FastAPI, React 19, TypeScript, Tailwind, SQLAlchemy), automated test coverage, and instant demo seeding.</a:t>
            </a:r>
          </a:p>
          <a:p>
            <a:pPr>
              <a:spcBef>
                <a:spcPts val="1000"/>
              </a:spcBef>
            </a:pPr>
            <a:r>
              <a:rPr b="1" sz="1200">
                <a:solidFill>
                  <a:srgbClr val="F8FAFC"/>
                </a:solidFill>
              </a:rPr>
              <a:t>✓ Ethical &amp; Transparent AI: </a:t>
            </a:r>
            <a:r>
              <a:rPr sz="1200">
                <a:solidFill>
                  <a:srgbClr val="94A3B8"/>
                </a:solidFill>
              </a:rPr>
              <a:t>Presents all machine learning outputs as educational decision-support tools with zero demographic bias.</a:t>
            </a:r>
          </a:p>
          <a:p>
            <a:pPr>
              <a:spcBef>
                <a:spcPts val="1600"/>
              </a:spcBef>
            </a:pPr>
            <a:r>
              <a:rPr b="1" sz="1400">
                <a:solidFill>
                  <a:srgbClr val="38BDF8"/>
                </a:solidFill>
              </a:rPr>
              <a:t>THANK YOU! Open for Questions &amp; Live System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